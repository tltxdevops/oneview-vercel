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7"/>
  </p:notesMasterIdLst>
  <p:sldIdLst>
    <p:sldId id="256" r:id="rId5"/>
    <p:sldId id="281" r:id="rId6"/>
    <p:sldId id="282" r:id="rId7"/>
    <p:sldId id="260" r:id="rId8"/>
    <p:sldId id="261" r:id="rId9"/>
    <p:sldId id="262" r:id="rId10"/>
    <p:sldId id="263" r:id="rId11"/>
    <p:sldId id="283" r:id="rId12"/>
    <p:sldId id="265" r:id="rId13"/>
    <p:sldId id="266" r:id="rId14"/>
    <p:sldId id="267" r:id="rId15"/>
    <p:sldId id="264" r:id="rId16"/>
  </p:sldIdLst>
  <p:sldSz cx="12192000" cy="6858000"/>
  <p:notesSz cx="6858000" cy="9144000"/>
  <p:embeddedFontLst>
    <p:embeddedFont>
      <p:font typeface="JetBrains Mono ExtraBold" panose="020B0604020202020204" charset="0"/>
      <p:regular r:id="rId18"/>
      <p:bold r:id="rId19"/>
      <p:italic r:id="rId20"/>
      <p:boldItalic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Lato Heavy" panose="020B0604020202020204" charset="0"/>
      <p:regular r:id="rId26"/>
      <p:bold r:id="rId27"/>
      <p:italic r:id="rId28"/>
      <p:boldItalic r:id="rId29"/>
    </p:embeddedFont>
    <p:embeddedFont>
      <p:font typeface="Lato Light" panose="020F0502020204030203" pitchFamily="34" charset="0"/>
      <p:regular r:id="rId30"/>
      <p:italic r:id="rId3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B1"/>
    <a:srgbClr val="000083"/>
    <a:srgbClr val="FF9900"/>
    <a:srgbClr val="7C00FF"/>
    <a:srgbClr val="3CD2F0"/>
    <a:srgbClr val="0000D0"/>
    <a:srgbClr val="FFFFFF"/>
    <a:srgbClr val="464646"/>
    <a:srgbClr val="F2F2F2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5EF22-9D2D-412D-8651-C89514E46418}" type="datetimeFigureOut">
              <a:t>03/07/2026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4DAD2-CE9B-4492-9099-1CEB203A4EEE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856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use este slide como guia do pitch.,Mantenha exemplos com dados fictícios e foque em problema, solução, ganho e medição.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use este slide como guia do pitch.,Mantenha exemplos com dados fictícios e foque em problema, solução, ganho e medição.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use este slide como guia do pitch.,Mantenha exemplos com dados fictícios e foque em problema, solução, ganho e medição.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use este slide como guia do pitch.,Mantenha exemplos com dados fictícios e foque em problema, solução, ganho e medição.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use este slide como guia do pitch.,Mantenha exemplos com dados fictícios e foque em problema, solução, ganho e medição.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use este slide como guia do pitch.,Mantenha exemplos com dados fictícios e foque em problema, solução, ganho e medição.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use este slide como guia do pitch.,Mantenha exemplos com dados fictícios e foque em problema, solução, ganho e medição.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use este slide como guia do pitch.,Mantenha exemplos com dados fictícios e foque em problema, solução, ganho e medição.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use este slide como guia do pitch.,Mantenha exemplos com dados fictícios e foque em problema, solução, ganho e medição.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use este slide como guia do pitch.,Mantenha exemplos com dados fictícios e foque em problema, solução, ganho e medição.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8602E253-B592-9421-CC2C-F8D6A41EB0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1724" y="569553"/>
            <a:ext cx="1237801" cy="3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3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Logotipo&#10;&#10;Descrição gerada automaticamente">
            <a:extLst>
              <a:ext uri="{FF2B5EF4-FFF2-40B4-BE49-F238E27FC236}">
                <a16:creationId xmlns:a16="http://schemas.microsoft.com/office/drawing/2014/main" id="{F3FE4632-5D40-E425-5390-E604BD4E7A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1724" y="6336358"/>
            <a:ext cx="1237801" cy="3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9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00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undo preto com letras brancas&#10;&#10;Descrição gerada automaticamente">
            <a:extLst>
              <a:ext uri="{FF2B5EF4-FFF2-40B4-BE49-F238E27FC236}">
                <a16:creationId xmlns:a16="http://schemas.microsoft.com/office/drawing/2014/main" id="{AEFC3D9E-727E-D22C-FD52-8B9BD6B263B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450" y="0"/>
            <a:ext cx="6051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60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22DD5559-867E-3A2A-6706-64036778FBF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1031"/>
          <a:stretch/>
        </p:blipFill>
        <p:spPr>
          <a:xfrm>
            <a:off x="7561936" y="589176"/>
            <a:ext cx="4630064" cy="5679649"/>
          </a:xfrm>
          <a:prstGeom prst="rect">
            <a:avLst/>
          </a:prstGeom>
        </p:spPr>
      </p:pic>
      <p:pic>
        <p:nvPicPr>
          <p:cNvPr id="8" name="Imagem 7" descr="Desenho com traços pretos em fundo branco">
            <a:extLst>
              <a:ext uri="{FF2B5EF4-FFF2-40B4-BE49-F238E27FC236}">
                <a16:creationId xmlns:a16="http://schemas.microsoft.com/office/drawing/2014/main" id="{B54282D0-80E7-F2D4-B9EB-41C80F892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076" y="5387281"/>
            <a:ext cx="3210535" cy="792601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E8D6706-5F36-C1A1-0AB9-E28A45F11088}"/>
              </a:ext>
            </a:extLst>
          </p:cNvPr>
          <p:cNvSpPr txBox="1"/>
          <p:nvPr/>
        </p:nvSpPr>
        <p:spPr>
          <a:xfrm>
            <a:off x="1168076" y="3171398"/>
            <a:ext cx="5416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HACKATHON </a:t>
            </a:r>
            <a:r>
              <a:rPr lang="pt-BR" sz="4000" dirty="0" err="1">
                <a:solidFill>
                  <a:schemeClr val="bg1"/>
                </a:solidFill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CrewAI</a:t>
            </a:r>
            <a:r>
              <a:rPr lang="pt-BR" sz="4000" dirty="0">
                <a:solidFill>
                  <a:srgbClr val="3CD2F0"/>
                </a:solidFill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_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D49CD1A-B7AD-79D1-F8DF-408B3026325D}"/>
              </a:ext>
            </a:extLst>
          </p:cNvPr>
          <p:cNvSpPr txBox="1"/>
          <p:nvPr/>
        </p:nvSpPr>
        <p:spPr>
          <a:xfrm>
            <a:off x="1168076" y="3879284"/>
            <a:ext cx="52522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</a:t>
            </a:r>
            <a:r>
              <a:rPr lang="en-US" sz="20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 </a:t>
            </a:r>
            <a:r>
              <a:rPr lang="en-US" sz="2000" dirty="0" err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Solução</a:t>
            </a:r>
            <a:r>
              <a:rPr lang="en-US" sz="20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| [Nome do </a:t>
            </a:r>
            <a:r>
              <a:rPr lang="en-US" sz="2000" dirty="0" err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</a:t>
            </a:r>
            <a:r>
              <a:rPr lang="en-US" sz="20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] </a:t>
            </a:r>
          </a:p>
          <a:p>
            <a:r>
              <a:rPr lang="en-US" sz="20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[Equipe]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71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6694" y="228600"/>
            <a:ext cx="318942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CREWAI</a:t>
            </a:r>
            <a:endParaRPr lang="en-US" sz="1200" dirty="0"/>
          </a:p>
        </p:txBody>
      </p:sp>
      <p:pic>
        <p:nvPicPr>
          <p:cNvPr id="5" name="Image 0" descr="/mnt/data/ppt_unzip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05740"/>
            <a:ext cx="1147354" cy="2834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31012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884224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3865169" y="297180"/>
            <a:ext cx="100584" cy="100584"/>
          </a:xfrm>
          <a:prstGeom prst="ellipse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pt-BR" sz="1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066337" y="283464"/>
            <a:ext cx="9144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PITCH 15 MIN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200193" y="297180"/>
            <a:ext cx="100584" cy="100584"/>
          </a:xfrm>
          <a:prstGeom prst="ellipse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pt-BR" sz="1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01361" y="28346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MÍN. 2 CASOS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571793" y="297180"/>
            <a:ext cx="100584" cy="100584"/>
          </a:xfrm>
          <a:prstGeom prst="ellipse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pt-BR" sz="1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772961" y="283464"/>
            <a:ext cx="111556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DADOS FICTÍCIOS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65760" y="914400"/>
            <a:ext cx="6400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COMO USAR O TEMPLATE</a:t>
            </a:r>
            <a:r>
              <a:rPr lang="en-US" sz="2400" b="1" dirty="0">
                <a:solidFill>
                  <a:srgbClr val="0000D0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_</a:t>
            </a:r>
            <a:endParaRPr lang="en-US" sz="2400" dirty="0">
              <a:solidFill>
                <a:srgbClr val="0000D0"/>
              </a:solidFill>
              <a:latin typeface="JetBrains Mono ExtraBold" panose="020B0604020202020204" charset="0"/>
              <a:ea typeface="JetBrains Mono ExtraBold" panose="020B0604020202020204" charset="0"/>
              <a:cs typeface="JetBrains Mono ExtraBold" panose="020B060402020202020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84048" y="1234440"/>
            <a:ext cx="7132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Estrutura sugerida para um pitch de até 15 minutos.</a:t>
            </a:r>
            <a:endParaRPr lang="en-US" sz="10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2920" y="2231136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02920" y="2231136"/>
            <a:ext cx="2514600" cy="45720"/>
          </a:xfrm>
          <a:prstGeom prst="rect">
            <a:avLst/>
          </a:prstGeom>
          <a:solidFill>
            <a:srgbClr val="000083"/>
          </a:solidFill>
          <a:ln w="12700">
            <a:solidFill>
              <a:srgbClr val="00008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67512" y="2395728"/>
            <a:ext cx="21854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Tempo</a:t>
            </a:r>
            <a:endParaRPr lang="en-US" sz="2000" dirty="0">
              <a:latin typeface="JetBrains Mono ExtraBold" panose="020B0604020202020204" charset="0"/>
              <a:ea typeface="JetBrains Mono ExtraBold" panose="020B0604020202020204" charset="0"/>
              <a:cs typeface="JetBrains Mono ExtraBold" panose="020B060402020202020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67512" y="2898648"/>
            <a:ext cx="2185416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15 minutos no total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Evitar explicar ferramenta demais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Focar na dor e no valor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46120" y="2231136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3246120" y="2231136"/>
            <a:ext cx="2514600" cy="45720"/>
          </a:xfrm>
          <a:prstGeom prst="rect">
            <a:avLst/>
          </a:prstGeom>
          <a:solidFill>
            <a:srgbClr val="7C00FF"/>
          </a:solidFill>
          <a:ln w="12700">
            <a:solidFill>
              <a:srgbClr val="7C0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3410712" y="2395728"/>
            <a:ext cx="21854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2000" b="1" dirty="0" err="1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Critérios</a:t>
            </a:r>
            <a:endParaRPr lang="en-US" sz="2000" b="1" dirty="0">
              <a:solidFill>
                <a:srgbClr val="1A1A1A"/>
              </a:solidFill>
              <a:latin typeface="JetBrains Mono ExtraBold" panose="020B0604020202020204" charset="0"/>
              <a:ea typeface="JetBrains Mono ExtraBold" panose="020B0604020202020204" charset="0"/>
              <a:cs typeface="JetBrains Mono ExtraBold" panose="020B060402020202020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410712" y="2898648"/>
            <a:ext cx="2185416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Mínimo 2 casos de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uso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Problema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claro</a:t>
            </a: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Ganho de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eficiência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Medição do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ganho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989320" y="2231136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5989320" y="2231136"/>
            <a:ext cx="251460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6153912" y="2395728"/>
            <a:ext cx="21854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2000" b="1" dirty="0" err="1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Premissa</a:t>
            </a:r>
            <a:endParaRPr lang="en-US" sz="2000" b="1" dirty="0">
              <a:solidFill>
                <a:srgbClr val="1A1A1A"/>
              </a:solidFill>
              <a:latin typeface="JetBrains Mono ExtraBold" panose="020B0604020202020204" charset="0"/>
              <a:ea typeface="JetBrains Mono ExtraBold" panose="020B0604020202020204" charset="0"/>
              <a:cs typeface="JetBrains Mono ExtraBold" panose="020B060402020202020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153912" y="2898648"/>
            <a:ext cx="2185416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Não usar dados reais</a:t>
            </a: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Massa fictícia/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simulada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Fluxo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replicável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8732520" y="2231136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8732520" y="2231136"/>
            <a:ext cx="2514600" cy="45720"/>
          </a:xfrm>
          <a:prstGeom prst="rect">
            <a:avLst/>
          </a:prstGeom>
          <a:solidFill>
            <a:srgbClr val="3CD2F0"/>
          </a:solidFill>
          <a:ln w="12700">
            <a:solidFill>
              <a:srgbClr val="3CD2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8897112" y="2395728"/>
            <a:ext cx="21854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20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Entrega</a:t>
            </a:r>
          </a:p>
        </p:txBody>
      </p:sp>
      <p:sp>
        <p:nvSpPr>
          <p:cNvPr id="33" name="Text 30"/>
          <p:cNvSpPr/>
          <p:nvPr/>
        </p:nvSpPr>
        <p:spPr>
          <a:xfrm>
            <a:off x="8897112" y="2898648"/>
            <a:ext cx="2185416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Demonstração ou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protótipo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Arquitetura do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fluxo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Próximos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passos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opcionais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02920" y="4581144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F7F7F7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772668" y="4809744"/>
            <a:ext cx="9646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Dica: use este arquivo como base, apague as instruções e preencha os campos entre colchetes.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20040" y="651967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INTERNO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3"/>
          <p:cNvSpPr/>
          <p:nvPr/>
        </p:nvSpPr>
        <p:spPr>
          <a:xfrm>
            <a:off x="365760" y="914400"/>
            <a:ext cx="6400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24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PROBLEMA ATUAL</a:t>
            </a:r>
            <a:r>
              <a:rPr lang="en-US" sz="2400" b="1" dirty="0">
                <a:solidFill>
                  <a:srgbClr val="0000D0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_</a:t>
            </a:r>
          </a:p>
        </p:txBody>
      </p:sp>
      <p:sp>
        <p:nvSpPr>
          <p:cNvPr id="17" name="Text 14"/>
          <p:cNvSpPr/>
          <p:nvPr/>
        </p:nvSpPr>
        <p:spPr>
          <a:xfrm>
            <a:off x="384048" y="1234440"/>
            <a:ext cx="7132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Mostre como o processo funciona hoje e onde estão os </a:t>
            </a:r>
            <a:r>
              <a:rPr lang="en-US" sz="1000" dirty="0" err="1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gargalos</a:t>
            </a:r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</a:p>
        </p:txBody>
      </p:sp>
      <p:sp>
        <p:nvSpPr>
          <p:cNvPr id="18" name="Text 15"/>
          <p:cNvSpPr/>
          <p:nvPr/>
        </p:nvSpPr>
        <p:spPr>
          <a:xfrm>
            <a:off x="594360" y="1737360"/>
            <a:ext cx="3108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20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Como </a:t>
            </a:r>
            <a:r>
              <a:rPr lang="en-US" sz="2000" b="1" dirty="0" err="1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funciona</a:t>
            </a:r>
            <a:r>
              <a:rPr lang="en-US" sz="20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hoje</a:t>
            </a:r>
            <a:r>
              <a:rPr lang="en-US" sz="20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:</a:t>
            </a:r>
          </a:p>
        </p:txBody>
      </p:sp>
      <p:sp>
        <p:nvSpPr>
          <p:cNvPr id="19" name="Shape 16"/>
          <p:cNvSpPr/>
          <p:nvPr/>
        </p:nvSpPr>
        <p:spPr>
          <a:xfrm>
            <a:off x="594360" y="2331720"/>
            <a:ext cx="1965960" cy="2747772"/>
          </a:xfrm>
          <a:prstGeom prst="roundRect">
            <a:avLst>
              <a:gd name="adj" fmla="val 6400"/>
            </a:avLst>
          </a:prstGeom>
          <a:solidFill>
            <a:srgbClr val="F7F7F7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758952" y="2514600"/>
            <a:ext cx="16367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Entrada manual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95528" y="2898648"/>
            <a:ext cx="15636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[Descreva aqui]</a:t>
            </a:r>
            <a:endParaRPr lang="en-US" sz="10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2633472" y="2697480"/>
            <a:ext cx="164592" cy="292608"/>
          </a:xfrm>
          <a:prstGeom prst="chevron">
            <a:avLst/>
          </a:prstGeom>
          <a:solidFill>
            <a:srgbClr val="0E547C"/>
          </a:solidFill>
          <a:ln w="12700">
            <a:solidFill>
              <a:srgbClr val="0E547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2871216" y="2304288"/>
            <a:ext cx="1965960" cy="2775204"/>
          </a:xfrm>
          <a:prstGeom prst="roundRect">
            <a:avLst>
              <a:gd name="adj" fmla="val 6400"/>
            </a:avLst>
          </a:prstGeom>
          <a:solidFill>
            <a:srgbClr val="F7F7F7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3035808" y="2514600"/>
            <a:ext cx="16367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Análise</a:t>
            </a: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dispersa</a:t>
            </a:r>
            <a:endParaRPr lang="en-US" sz="12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072384" y="2898648"/>
            <a:ext cx="15636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just"/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[Descreva </a:t>
            </a:r>
            <a:r>
              <a:rPr lang="en-US" sz="1000" dirty="0" err="1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aqui</a:t>
            </a:r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</p:txBody>
      </p:sp>
      <p:sp>
        <p:nvSpPr>
          <p:cNvPr id="26" name="Shape 23"/>
          <p:cNvSpPr/>
          <p:nvPr/>
        </p:nvSpPr>
        <p:spPr>
          <a:xfrm>
            <a:off x="4910328" y="2697480"/>
            <a:ext cx="164592" cy="292608"/>
          </a:xfrm>
          <a:prstGeom prst="chevron">
            <a:avLst/>
          </a:prstGeom>
          <a:solidFill>
            <a:srgbClr val="0E547C"/>
          </a:solidFill>
          <a:ln w="12700">
            <a:solidFill>
              <a:srgbClr val="0E547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5148072" y="2331720"/>
            <a:ext cx="1965960" cy="2747772"/>
          </a:xfrm>
          <a:prstGeom prst="roundRect">
            <a:avLst>
              <a:gd name="adj" fmla="val 6400"/>
            </a:avLst>
          </a:prstGeom>
          <a:solidFill>
            <a:srgbClr val="F7F7F7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5312664" y="2514600"/>
            <a:ext cx="16367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Validação</a:t>
            </a: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lenta</a:t>
            </a:r>
          </a:p>
        </p:txBody>
      </p:sp>
      <p:sp>
        <p:nvSpPr>
          <p:cNvPr id="29" name="Text 26"/>
          <p:cNvSpPr/>
          <p:nvPr/>
        </p:nvSpPr>
        <p:spPr>
          <a:xfrm>
            <a:off x="5349240" y="2898648"/>
            <a:ext cx="15636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just"/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[Descreva </a:t>
            </a:r>
            <a:r>
              <a:rPr lang="en-US" sz="1000" dirty="0" err="1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aqui</a:t>
            </a:r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</p:txBody>
      </p:sp>
      <p:sp>
        <p:nvSpPr>
          <p:cNvPr id="30" name="Shape 27"/>
          <p:cNvSpPr/>
          <p:nvPr/>
        </p:nvSpPr>
        <p:spPr>
          <a:xfrm>
            <a:off x="7187184" y="2697480"/>
            <a:ext cx="164592" cy="292608"/>
          </a:xfrm>
          <a:prstGeom prst="chevron">
            <a:avLst/>
          </a:prstGeom>
          <a:solidFill>
            <a:srgbClr val="0E547C"/>
          </a:solidFill>
          <a:ln w="12700">
            <a:solidFill>
              <a:srgbClr val="0E547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7424928" y="2331720"/>
            <a:ext cx="1965960" cy="2747772"/>
          </a:xfrm>
          <a:prstGeom prst="roundRect">
            <a:avLst>
              <a:gd name="adj" fmla="val 6400"/>
            </a:avLst>
          </a:prstGeom>
          <a:solidFill>
            <a:srgbClr val="F7F7F7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7589520" y="2514600"/>
            <a:ext cx="16367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Saída </a:t>
            </a:r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sem</a:t>
            </a: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padrão</a:t>
            </a:r>
            <a:endParaRPr lang="en-US" sz="12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626096" y="2898648"/>
            <a:ext cx="15636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just"/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[Descreva </a:t>
            </a:r>
            <a:r>
              <a:rPr lang="en-US" sz="1000" dirty="0" err="1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aqui</a:t>
            </a:r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</p:txBody>
      </p:sp>
      <p:sp>
        <p:nvSpPr>
          <p:cNvPr id="34" name="Shape 31"/>
          <p:cNvSpPr/>
          <p:nvPr/>
        </p:nvSpPr>
        <p:spPr>
          <a:xfrm>
            <a:off x="9957816" y="2331720"/>
            <a:ext cx="1536192" cy="2103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2"/>
          <p:cNvSpPr/>
          <p:nvPr/>
        </p:nvSpPr>
        <p:spPr>
          <a:xfrm>
            <a:off x="9957816" y="2331720"/>
            <a:ext cx="1536192" cy="45720"/>
          </a:xfrm>
          <a:prstGeom prst="rect">
            <a:avLst/>
          </a:prstGeom>
          <a:solidFill>
            <a:srgbClr val="FF00B1"/>
          </a:solidFill>
          <a:ln w="12700">
            <a:solidFill>
              <a:srgbClr val="FF00B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10122408" y="2496312"/>
            <a:ext cx="12070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Gargalo principal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0122408" y="3017520"/>
            <a:ext cx="1207008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[Onde trava?]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0" indent="0" algn="l">
              <a:buNone/>
            </a:pP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[Quem precisa atuar?]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39496" y="5445252"/>
            <a:ext cx="10954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749808" y="5628132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 do problema: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3191256" y="5628132"/>
            <a:ext cx="7406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[Hoje o processo X gera Y impacto porque Z.]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320040" y="651967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INTERNO</a:t>
            </a:r>
            <a:endParaRPr lang="en-US" sz="650" dirty="0"/>
          </a:p>
        </p:txBody>
      </p:sp>
      <p:sp>
        <p:nvSpPr>
          <p:cNvPr id="66" name="Shape 0">
            <a:extLst>
              <a:ext uri="{FF2B5EF4-FFF2-40B4-BE49-F238E27FC236}">
                <a16:creationId xmlns:a16="http://schemas.microsoft.com/office/drawing/2014/main" id="{16024B77-979C-E22C-4F64-39B046C3B43F}"/>
              </a:ext>
            </a:extLst>
          </p:cNvPr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1">
            <a:extLst>
              <a:ext uri="{FF2B5EF4-FFF2-40B4-BE49-F238E27FC236}">
                <a16:creationId xmlns:a16="http://schemas.microsoft.com/office/drawing/2014/main" id="{D4633599-EF9B-2375-89A3-9C311627CB9C}"/>
              </a:ext>
            </a:extLst>
          </p:cNvPr>
          <p:cNvSpPr/>
          <p:nvPr/>
        </p:nvSpPr>
        <p:spPr>
          <a:xfrm>
            <a:off x="56694" y="228600"/>
            <a:ext cx="318942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CREWAI</a:t>
            </a:r>
            <a:endParaRPr lang="en-US" sz="1200" dirty="0"/>
          </a:p>
        </p:txBody>
      </p:sp>
      <p:pic>
        <p:nvPicPr>
          <p:cNvPr id="68" name="Image 0" descr="/mnt/data/ppt_unzip/ppt/media/image4.png">
            <a:extLst>
              <a:ext uri="{FF2B5EF4-FFF2-40B4-BE49-F238E27FC236}">
                <a16:creationId xmlns:a16="http://schemas.microsoft.com/office/drawing/2014/main" id="{46AB3C5C-5382-8A47-CECC-5CE3B9571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05740"/>
            <a:ext cx="1147354" cy="283464"/>
          </a:xfrm>
          <a:prstGeom prst="rect">
            <a:avLst/>
          </a:prstGeom>
        </p:spPr>
      </p:pic>
      <p:sp>
        <p:nvSpPr>
          <p:cNvPr id="69" name="Shape 3">
            <a:extLst>
              <a:ext uri="{FF2B5EF4-FFF2-40B4-BE49-F238E27FC236}">
                <a16:creationId xmlns:a16="http://schemas.microsoft.com/office/drawing/2014/main" id="{F280B3D8-62E9-2A5B-92D5-9A4769EFF26C}"/>
              </a:ext>
            </a:extLst>
          </p:cNvPr>
          <p:cNvSpPr/>
          <p:nvPr/>
        </p:nvSpPr>
        <p:spPr>
          <a:xfrm>
            <a:off x="331012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4">
            <a:extLst>
              <a:ext uri="{FF2B5EF4-FFF2-40B4-BE49-F238E27FC236}">
                <a16:creationId xmlns:a16="http://schemas.microsoft.com/office/drawing/2014/main" id="{21984E2D-F4D4-5E53-8981-5562CA0BE27E}"/>
              </a:ext>
            </a:extLst>
          </p:cNvPr>
          <p:cNvSpPr/>
          <p:nvPr/>
        </p:nvSpPr>
        <p:spPr>
          <a:xfrm>
            <a:off x="884224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3"/>
          <p:cNvSpPr/>
          <p:nvPr/>
        </p:nvSpPr>
        <p:spPr>
          <a:xfrm>
            <a:off x="365760" y="914400"/>
            <a:ext cx="6400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24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IMPACTO DO PROBLEMA</a:t>
            </a:r>
            <a:r>
              <a:rPr lang="en-US" sz="2400" b="1" dirty="0">
                <a:solidFill>
                  <a:srgbClr val="0000D0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_</a:t>
            </a:r>
          </a:p>
        </p:txBody>
      </p:sp>
      <p:sp>
        <p:nvSpPr>
          <p:cNvPr id="17" name="Text 14"/>
          <p:cNvSpPr/>
          <p:nvPr/>
        </p:nvSpPr>
        <p:spPr>
          <a:xfrm>
            <a:off x="384048" y="1234440"/>
            <a:ext cx="7132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Deixe claro por que vale a pena resolver essa dor.</a:t>
            </a:r>
          </a:p>
        </p:txBody>
      </p:sp>
      <p:sp>
        <p:nvSpPr>
          <p:cNvPr id="18" name="Shape 15"/>
          <p:cNvSpPr/>
          <p:nvPr/>
        </p:nvSpPr>
        <p:spPr>
          <a:xfrm>
            <a:off x="640080" y="1847088"/>
            <a:ext cx="3383280" cy="2871216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640080" y="1847088"/>
            <a:ext cx="3383280" cy="45720"/>
          </a:xfrm>
          <a:prstGeom prst="rect">
            <a:avLst/>
          </a:prstGeom>
          <a:solidFill>
            <a:srgbClr val="000083"/>
          </a:solidFill>
          <a:ln w="12700">
            <a:solidFill>
              <a:srgbClr val="00008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804672" y="2011680"/>
            <a:ext cx="30540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Tempo </a:t>
            </a:r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perdido</a:t>
            </a:r>
            <a:endParaRPr lang="en-US" sz="12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04672" y="2350008"/>
            <a:ext cx="305409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[Ex.: horas gastas por semana]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[Etapas repetitivas]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[Tempo de espera entre áreas]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407408" y="1847088"/>
            <a:ext cx="3383280" cy="2871216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4407408" y="1847088"/>
            <a:ext cx="3383280" cy="45720"/>
          </a:xfrm>
          <a:prstGeom prst="rect">
            <a:avLst/>
          </a:prstGeom>
          <a:solidFill>
            <a:srgbClr val="3CD2F0"/>
          </a:solidFill>
          <a:ln w="12700">
            <a:solidFill>
              <a:srgbClr val="3CD2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4572000" y="2011680"/>
            <a:ext cx="30540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Qualidade e </a:t>
            </a:r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retrabalho</a:t>
            </a:r>
            <a:endParaRPr lang="en-US" sz="12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72000" y="2350008"/>
            <a:ext cx="305409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[Erros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comuns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Reprocessamento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[Falta de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padronização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</p:txBody>
      </p:sp>
      <p:sp>
        <p:nvSpPr>
          <p:cNvPr id="26" name="Shape 23"/>
          <p:cNvSpPr/>
          <p:nvPr/>
        </p:nvSpPr>
        <p:spPr>
          <a:xfrm>
            <a:off x="8174736" y="1847088"/>
            <a:ext cx="3383280" cy="2871216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7" name="Shape 24"/>
          <p:cNvSpPr/>
          <p:nvPr/>
        </p:nvSpPr>
        <p:spPr>
          <a:xfrm>
            <a:off x="8174736" y="1847088"/>
            <a:ext cx="338328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8339328" y="2011680"/>
            <a:ext cx="30540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Risco e </a:t>
            </a:r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governança</a:t>
            </a:r>
            <a:endParaRPr lang="en-US" sz="12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339328" y="2350008"/>
            <a:ext cx="305409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[Baixa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rastreabilidade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[Decisões sem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evidência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[Dependência de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pessoas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</p:txBody>
      </p:sp>
      <p:sp>
        <p:nvSpPr>
          <p:cNvPr id="30" name="Shape 27"/>
          <p:cNvSpPr/>
          <p:nvPr/>
        </p:nvSpPr>
        <p:spPr>
          <a:xfrm>
            <a:off x="521208" y="5129784"/>
            <a:ext cx="11027664" cy="640080"/>
          </a:xfrm>
          <a:prstGeom prst="roundRect">
            <a:avLst>
              <a:gd name="adj" fmla="val 11429"/>
            </a:avLst>
          </a:prstGeom>
          <a:solidFill>
            <a:srgbClr val="F7F7F7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918972" y="5367528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Quem é impactado?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809603" y="5367528"/>
            <a:ext cx="7863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[Times, clientes internos, gestores, operação, segurança, jurídico, financeiro...]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20040" y="651967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INTERNO</a:t>
            </a:r>
            <a:endParaRPr lang="en-US" sz="650" dirty="0"/>
          </a:p>
        </p:txBody>
      </p:sp>
      <p:sp>
        <p:nvSpPr>
          <p:cNvPr id="58" name="Shape 0">
            <a:extLst>
              <a:ext uri="{FF2B5EF4-FFF2-40B4-BE49-F238E27FC236}">
                <a16:creationId xmlns:a16="http://schemas.microsoft.com/office/drawing/2014/main" id="{59EC1DDE-58CC-EF4E-0D5B-82E4EEE5D331}"/>
              </a:ext>
            </a:extLst>
          </p:cNvPr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A43FC7D3-9047-6C65-73C9-859357672656}"/>
              </a:ext>
            </a:extLst>
          </p:cNvPr>
          <p:cNvSpPr/>
          <p:nvPr/>
        </p:nvSpPr>
        <p:spPr>
          <a:xfrm>
            <a:off x="56694" y="228600"/>
            <a:ext cx="318942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CREWAI</a:t>
            </a:r>
            <a:endParaRPr lang="en-US" sz="1200" dirty="0"/>
          </a:p>
        </p:txBody>
      </p:sp>
      <p:pic>
        <p:nvPicPr>
          <p:cNvPr id="60" name="Image 0" descr="/mnt/data/ppt_unzip/ppt/media/image4.png">
            <a:extLst>
              <a:ext uri="{FF2B5EF4-FFF2-40B4-BE49-F238E27FC236}">
                <a16:creationId xmlns:a16="http://schemas.microsoft.com/office/drawing/2014/main" id="{2A521D18-173C-286C-5C50-590D45BB5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05740"/>
            <a:ext cx="1147354" cy="283464"/>
          </a:xfrm>
          <a:prstGeom prst="rect">
            <a:avLst/>
          </a:prstGeom>
        </p:spPr>
      </p:pic>
      <p:sp>
        <p:nvSpPr>
          <p:cNvPr id="61" name="Shape 3">
            <a:extLst>
              <a:ext uri="{FF2B5EF4-FFF2-40B4-BE49-F238E27FC236}">
                <a16:creationId xmlns:a16="http://schemas.microsoft.com/office/drawing/2014/main" id="{F5DACD60-95E4-4211-FFFF-87FE16995D40}"/>
              </a:ext>
            </a:extLst>
          </p:cNvPr>
          <p:cNvSpPr/>
          <p:nvPr/>
        </p:nvSpPr>
        <p:spPr>
          <a:xfrm>
            <a:off x="331012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0204AB0C-5596-CE72-040A-DE9AB7C2F025}"/>
              </a:ext>
            </a:extLst>
          </p:cNvPr>
          <p:cNvSpPr/>
          <p:nvPr/>
        </p:nvSpPr>
        <p:spPr>
          <a:xfrm>
            <a:off x="884224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3"/>
          <p:cNvSpPr/>
          <p:nvPr/>
        </p:nvSpPr>
        <p:spPr>
          <a:xfrm>
            <a:off x="365760" y="914400"/>
            <a:ext cx="6400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24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SOLUÇÃO CRIADA COM </a:t>
            </a:r>
            <a:r>
              <a:rPr lang="en-US" sz="2400" b="1" dirty="0" err="1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CrewAI</a:t>
            </a:r>
            <a:r>
              <a:rPr lang="en-US" sz="2400" b="1" dirty="0">
                <a:solidFill>
                  <a:srgbClr val="0000D0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_</a:t>
            </a:r>
          </a:p>
        </p:txBody>
      </p:sp>
      <p:sp>
        <p:nvSpPr>
          <p:cNvPr id="17" name="Text 14"/>
          <p:cNvSpPr/>
          <p:nvPr/>
        </p:nvSpPr>
        <p:spPr>
          <a:xfrm>
            <a:off x="384048" y="1234440"/>
            <a:ext cx="7132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Explique o que foi construído de forma simples e </a:t>
            </a:r>
            <a:r>
              <a:rPr lang="en-US" sz="1000" dirty="0" err="1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objetiva</a:t>
            </a:r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</a:p>
        </p:txBody>
      </p:sp>
      <p:sp>
        <p:nvSpPr>
          <p:cNvPr id="18" name="Shape 15"/>
          <p:cNvSpPr/>
          <p:nvPr/>
        </p:nvSpPr>
        <p:spPr>
          <a:xfrm>
            <a:off x="594360" y="2112264"/>
            <a:ext cx="4754880" cy="347472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94360" y="2112264"/>
            <a:ext cx="4754880" cy="45720"/>
          </a:xfrm>
          <a:prstGeom prst="rect">
            <a:avLst/>
          </a:prstGeom>
          <a:solidFill>
            <a:srgbClr val="000083"/>
          </a:solidFill>
          <a:ln w="12700">
            <a:solidFill>
              <a:srgbClr val="00008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868680" y="2414016"/>
            <a:ext cx="41148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[Nome da solução]</a:t>
            </a:r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68680" y="3035808"/>
            <a:ext cx="40690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[Explique em 2 ou 3 linhas o que a solução faz e qual dor ela reduz.]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68680" y="4535424"/>
            <a:ext cx="1280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Saída </a:t>
            </a:r>
            <a:r>
              <a:rPr lang="en-US" sz="11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principal</a:t>
            </a:r>
            <a:r>
              <a:rPr lang="en-US" sz="1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148840" y="4535424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[relatório, classificação, resumo, validação, roteiro, plano de ação...]</a:t>
            </a:r>
            <a:endParaRPr lang="en-US" sz="10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852160" y="2112264"/>
            <a:ext cx="2651760" cy="1618488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5852160" y="2112264"/>
            <a:ext cx="2651760" cy="45720"/>
          </a:xfrm>
          <a:prstGeom prst="rect">
            <a:avLst/>
          </a:prstGeom>
          <a:solidFill>
            <a:srgbClr val="3CD2F0"/>
          </a:solidFill>
          <a:ln w="12700">
            <a:solidFill>
              <a:srgbClr val="3CD2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6016752" y="2276856"/>
            <a:ext cx="23225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Entrada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016752" y="2624328"/>
            <a:ext cx="232257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[Dado fictício / arquivo / texto / solicitação]</a:t>
            </a:r>
            <a:endParaRPr lang="en-US" sz="105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8823960" y="2112264"/>
            <a:ext cx="2651760" cy="1618488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8823960" y="2112264"/>
            <a:ext cx="2651760" cy="45720"/>
          </a:xfrm>
          <a:prstGeom prst="rect">
            <a:avLst/>
          </a:prstGeom>
          <a:solidFill>
            <a:srgbClr val="7C00FF"/>
          </a:solidFill>
          <a:ln w="12700">
            <a:solidFill>
              <a:srgbClr val="7C0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8988552" y="2276856"/>
            <a:ext cx="23225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Processamento</a:t>
            </a:r>
            <a:endParaRPr lang="en-US" sz="11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988552" y="2624328"/>
            <a:ext cx="232257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5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[Agentes + tarefas + </a:t>
            </a:r>
            <a:r>
              <a:rPr lang="en-US" sz="105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validações</a:t>
            </a:r>
            <a:r>
              <a:rPr lang="en-US" sz="105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</p:txBody>
      </p:sp>
      <p:sp>
        <p:nvSpPr>
          <p:cNvPr id="32" name="Shape 29"/>
          <p:cNvSpPr/>
          <p:nvPr/>
        </p:nvSpPr>
        <p:spPr>
          <a:xfrm>
            <a:off x="5852160" y="4069080"/>
            <a:ext cx="2651760" cy="1517904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5852160" y="4050792"/>
            <a:ext cx="2651760" cy="45720"/>
          </a:xfrm>
          <a:prstGeom prst="rect">
            <a:avLst/>
          </a:prstGeom>
          <a:solidFill>
            <a:srgbClr val="000083"/>
          </a:solidFill>
          <a:ln w="12700">
            <a:solidFill>
              <a:srgbClr val="00008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6016752" y="4215384"/>
            <a:ext cx="23225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Saída</a:t>
            </a:r>
            <a:endParaRPr lang="en-US" sz="11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016752" y="4599432"/>
            <a:ext cx="232257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5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[Entrega final </a:t>
            </a:r>
            <a:r>
              <a:rPr lang="en-US" sz="105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gerada</a:t>
            </a:r>
            <a:r>
              <a:rPr lang="en-US" sz="105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</p:txBody>
      </p:sp>
      <p:sp>
        <p:nvSpPr>
          <p:cNvPr id="36" name="Shape 33"/>
          <p:cNvSpPr/>
          <p:nvPr/>
        </p:nvSpPr>
        <p:spPr>
          <a:xfrm>
            <a:off x="8823960" y="4069080"/>
            <a:ext cx="2651760" cy="1517904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4"/>
          <p:cNvSpPr/>
          <p:nvPr/>
        </p:nvSpPr>
        <p:spPr>
          <a:xfrm>
            <a:off x="8823960" y="4041648"/>
            <a:ext cx="265176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5"/>
          <p:cNvSpPr/>
          <p:nvPr/>
        </p:nvSpPr>
        <p:spPr>
          <a:xfrm>
            <a:off x="8988552" y="4215384"/>
            <a:ext cx="23225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Validação</a:t>
            </a:r>
            <a:r>
              <a:rPr lang="en-US" sz="11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humana</a:t>
            </a:r>
          </a:p>
        </p:txBody>
      </p:sp>
      <p:sp>
        <p:nvSpPr>
          <p:cNvPr id="39" name="Text 36"/>
          <p:cNvSpPr/>
          <p:nvPr/>
        </p:nvSpPr>
        <p:spPr>
          <a:xfrm>
            <a:off x="8988552" y="4599432"/>
            <a:ext cx="232257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5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[Quem revisa / </a:t>
            </a:r>
            <a:r>
              <a:rPr lang="en-US" sz="105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aprova</a:t>
            </a:r>
            <a:r>
              <a:rPr lang="en-US" sz="105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</p:txBody>
      </p:sp>
      <p:sp>
        <p:nvSpPr>
          <p:cNvPr id="40" name="Text 37"/>
          <p:cNvSpPr/>
          <p:nvPr/>
        </p:nvSpPr>
        <p:spPr>
          <a:xfrm>
            <a:off x="320040" y="651967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INTERNO</a:t>
            </a:r>
            <a:endParaRPr lang="en-US" sz="650" dirty="0"/>
          </a:p>
        </p:txBody>
      </p:sp>
      <p:sp>
        <p:nvSpPr>
          <p:cNvPr id="65" name="Shape 0">
            <a:extLst>
              <a:ext uri="{FF2B5EF4-FFF2-40B4-BE49-F238E27FC236}">
                <a16:creationId xmlns:a16="http://schemas.microsoft.com/office/drawing/2014/main" id="{0E1DF413-3718-E615-80B3-A142E486167E}"/>
              </a:ext>
            </a:extLst>
          </p:cNvPr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CD964DA5-068F-A12D-C1E6-9C15EC9816A2}"/>
              </a:ext>
            </a:extLst>
          </p:cNvPr>
          <p:cNvSpPr/>
          <p:nvPr/>
        </p:nvSpPr>
        <p:spPr>
          <a:xfrm>
            <a:off x="56694" y="228600"/>
            <a:ext cx="318942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CREWAI</a:t>
            </a:r>
            <a:endParaRPr lang="en-US" sz="1200" dirty="0"/>
          </a:p>
        </p:txBody>
      </p:sp>
      <p:pic>
        <p:nvPicPr>
          <p:cNvPr id="67" name="Image 0" descr="/mnt/data/ppt_unzip/ppt/media/image4.png">
            <a:extLst>
              <a:ext uri="{FF2B5EF4-FFF2-40B4-BE49-F238E27FC236}">
                <a16:creationId xmlns:a16="http://schemas.microsoft.com/office/drawing/2014/main" id="{5581394D-387F-D2BF-C501-696F21A63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05740"/>
            <a:ext cx="1147354" cy="283464"/>
          </a:xfrm>
          <a:prstGeom prst="rect">
            <a:avLst/>
          </a:prstGeom>
        </p:spPr>
      </p:pic>
      <p:sp>
        <p:nvSpPr>
          <p:cNvPr id="68" name="Shape 3">
            <a:extLst>
              <a:ext uri="{FF2B5EF4-FFF2-40B4-BE49-F238E27FC236}">
                <a16:creationId xmlns:a16="http://schemas.microsoft.com/office/drawing/2014/main" id="{F4054930-878C-FE0C-FF40-512D243F2C34}"/>
              </a:ext>
            </a:extLst>
          </p:cNvPr>
          <p:cNvSpPr/>
          <p:nvPr/>
        </p:nvSpPr>
        <p:spPr>
          <a:xfrm>
            <a:off x="331012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4">
            <a:extLst>
              <a:ext uri="{FF2B5EF4-FFF2-40B4-BE49-F238E27FC236}">
                <a16:creationId xmlns:a16="http://schemas.microsoft.com/office/drawing/2014/main" id="{94B5CEE3-5C54-2D6F-87A3-690003FF7F80}"/>
              </a:ext>
            </a:extLst>
          </p:cNvPr>
          <p:cNvSpPr/>
          <p:nvPr/>
        </p:nvSpPr>
        <p:spPr>
          <a:xfrm>
            <a:off x="884224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3"/>
          <p:cNvSpPr/>
          <p:nvPr/>
        </p:nvSpPr>
        <p:spPr>
          <a:xfrm>
            <a:off x="365760" y="914400"/>
            <a:ext cx="6400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24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FLUXO DA SOLUÇÃO</a:t>
            </a:r>
            <a:r>
              <a:rPr lang="en-US" sz="2400" b="1" dirty="0">
                <a:solidFill>
                  <a:srgbClr val="0000D0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_</a:t>
            </a:r>
          </a:p>
        </p:txBody>
      </p:sp>
      <p:sp>
        <p:nvSpPr>
          <p:cNvPr id="17" name="Text 14"/>
          <p:cNvSpPr/>
          <p:nvPr/>
        </p:nvSpPr>
        <p:spPr>
          <a:xfrm>
            <a:off x="384048" y="1234440"/>
            <a:ext cx="7132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Mostre o passo a passo do processo com </a:t>
            </a:r>
            <a:r>
              <a:rPr lang="en-US" sz="1000" dirty="0" err="1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CrewAI</a:t>
            </a:r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</a:p>
        </p:txBody>
      </p:sp>
      <p:sp>
        <p:nvSpPr>
          <p:cNvPr id="18" name="Shape 15"/>
          <p:cNvSpPr/>
          <p:nvPr/>
        </p:nvSpPr>
        <p:spPr>
          <a:xfrm>
            <a:off x="685800" y="263347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685800" y="2633472"/>
            <a:ext cx="1664208" cy="45720"/>
          </a:xfrm>
          <a:prstGeom prst="rect">
            <a:avLst/>
          </a:prstGeom>
          <a:solidFill>
            <a:srgbClr val="3CD2F0"/>
          </a:solidFill>
          <a:ln w="12700">
            <a:solidFill>
              <a:srgbClr val="3CD2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795528" y="2857500"/>
            <a:ext cx="144475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Entrada fictícia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478024" y="2852928"/>
            <a:ext cx="228600" cy="320040"/>
          </a:xfrm>
          <a:prstGeom prst="chevron">
            <a:avLst/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2898648" y="263347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2898648" y="2633472"/>
            <a:ext cx="1664208" cy="45720"/>
          </a:xfrm>
          <a:prstGeom prst="rect">
            <a:avLst/>
          </a:prstGeom>
          <a:solidFill>
            <a:srgbClr val="000083"/>
          </a:solidFill>
          <a:ln w="12700">
            <a:solidFill>
              <a:srgbClr val="00008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3008376" y="2857500"/>
            <a:ext cx="144475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/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Agente</a:t>
            </a: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1</a:t>
            </a:r>
          </a:p>
          <a:p>
            <a:pPr algn="ctr"/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triagem</a:t>
            </a:r>
            <a:endParaRPr lang="en-US" sz="12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690872" y="2852928"/>
            <a:ext cx="228600" cy="320040"/>
          </a:xfrm>
          <a:prstGeom prst="chevron">
            <a:avLst/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5111496" y="263347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5111496" y="2633472"/>
            <a:ext cx="1664208" cy="45720"/>
          </a:xfrm>
          <a:prstGeom prst="rect">
            <a:avLst/>
          </a:prstGeom>
          <a:solidFill>
            <a:srgbClr val="000083"/>
          </a:solidFill>
          <a:ln w="12700">
            <a:solidFill>
              <a:srgbClr val="00008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5221224" y="2857500"/>
            <a:ext cx="144475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/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Agente</a:t>
            </a: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2</a:t>
            </a:r>
          </a:p>
          <a:p>
            <a:pPr algn="ctr"/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análise</a:t>
            </a:r>
            <a:endParaRPr lang="en-US" sz="12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903720" y="2852928"/>
            <a:ext cx="228600" cy="320040"/>
          </a:xfrm>
          <a:prstGeom prst="chevron">
            <a:avLst/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7"/>
          <p:cNvSpPr/>
          <p:nvPr/>
        </p:nvSpPr>
        <p:spPr>
          <a:xfrm>
            <a:off x="7324344" y="263347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7324344" y="2633472"/>
            <a:ext cx="1664208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7434072" y="2857500"/>
            <a:ext cx="144475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/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Validação</a:t>
            </a:r>
            <a:endParaRPr lang="en-US" sz="12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humana</a:t>
            </a:r>
          </a:p>
        </p:txBody>
      </p:sp>
      <p:sp>
        <p:nvSpPr>
          <p:cNvPr id="33" name="Shape 30"/>
          <p:cNvSpPr/>
          <p:nvPr/>
        </p:nvSpPr>
        <p:spPr>
          <a:xfrm>
            <a:off x="9116568" y="2852928"/>
            <a:ext cx="228600" cy="320040"/>
          </a:xfrm>
          <a:prstGeom prst="chevron">
            <a:avLst/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1"/>
          <p:cNvSpPr/>
          <p:nvPr/>
        </p:nvSpPr>
        <p:spPr>
          <a:xfrm>
            <a:off x="9537192" y="263347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2"/>
          <p:cNvSpPr/>
          <p:nvPr/>
        </p:nvSpPr>
        <p:spPr>
          <a:xfrm>
            <a:off x="9537192" y="2633472"/>
            <a:ext cx="1664208" cy="45720"/>
          </a:xfrm>
          <a:prstGeom prst="rect">
            <a:avLst/>
          </a:prstGeom>
          <a:solidFill>
            <a:srgbClr val="7C00FF"/>
          </a:solidFill>
          <a:ln w="12700">
            <a:solidFill>
              <a:srgbClr val="7C0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9646920" y="2857500"/>
            <a:ext cx="144475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/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Saída</a:t>
            </a: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final</a:t>
            </a:r>
          </a:p>
        </p:txBody>
      </p:sp>
      <p:sp>
        <p:nvSpPr>
          <p:cNvPr id="37" name="Shape 34"/>
          <p:cNvSpPr/>
          <p:nvPr/>
        </p:nvSpPr>
        <p:spPr>
          <a:xfrm>
            <a:off x="685800" y="4306824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7F7F7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5"/>
          <p:cNvSpPr/>
          <p:nvPr/>
        </p:nvSpPr>
        <p:spPr>
          <a:xfrm>
            <a:off x="1207008" y="4613148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Ponto de controle:</a:t>
            </a:r>
            <a:endParaRPr lang="en-US" sz="11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2697480" y="4613148"/>
            <a:ext cx="7955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[Onde a solução evita erro, pede revisão, aplica regra ou registra evidência?]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20040" y="651967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INTERNO</a:t>
            </a:r>
            <a:endParaRPr lang="en-US" sz="650" dirty="0"/>
          </a:p>
        </p:txBody>
      </p:sp>
      <p:sp>
        <p:nvSpPr>
          <p:cNvPr id="65" name="Shape 0">
            <a:extLst>
              <a:ext uri="{FF2B5EF4-FFF2-40B4-BE49-F238E27FC236}">
                <a16:creationId xmlns:a16="http://schemas.microsoft.com/office/drawing/2014/main" id="{672B171E-F896-3C41-712B-C9B0846DCA44}"/>
              </a:ext>
            </a:extLst>
          </p:cNvPr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202EF2DF-B944-84D1-C37B-BEEA9D8F8B3E}"/>
              </a:ext>
            </a:extLst>
          </p:cNvPr>
          <p:cNvSpPr/>
          <p:nvPr/>
        </p:nvSpPr>
        <p:spPr>
          <a:xfrm>
            <a:off x="56694" y="228600"/>
            <a:ext cx="318942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CREWAI</a:t>
            </a:r>
            <a:endParaRPr lang="en-US" sz="1200" dirty="0"/>
          </a:p>
        </p:txBody>
      </p:sp>
      <p:pic>
        <p:nvPicPr>
          <p:cNvPr id="67" name="Image 0" descr="/mnt/data/ppt_unzip/ppt/media/image4.png">
            <a:extLst>
              <a:ext uri="{FF2B5EF4-FFF2-40B4-BE49-F238E27FC236}">
                <a16:creationId xmlns:a16="http://schemas.microsoft.com/office/drawing/2014/main" id="{94D50617-B1F8-1318-7ACA-EDD6BEEDC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05740"/>
            <a:ext cx="1147354" cy="283464"/>
          </a:xfrm>
          <a:prstGeom prst="rect">
            <a:avLst/>
          </a:prstGeom>
        </p:spPr>
      </p:pic>
      <p:sp>
        <p:nvSpPr>
          <p:cNvPr id="68" name="Shape 3">
            <a:extLst>
              <a:ext uri="{FF2B5EF4-FFF2-40B4-BE49-F238E27FC236}">
                <a16:creationId xmlns:a16="http://schemas.microsoft.com/office/drawing/2014/main" id="{ECDFD968-0EF4-AAA8-F5BC-A85411292837}"/>
              </a:ext>
            </a:extLst>
          </p:cNvPr>
          <p:cNvSpPr/>
          <p:nvPr/>
        </p:nvSpPr>
        <p:spPr>
          <a:xfrm>
            <a:off x="331012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4">
            <a:extLst>
              <a:ext uri="{FF2B5EF4-FFF2-40B4-BE49-F238E27FC236}">
                <a16:creationId xmlns:a16="http://schemas.microsoft.com/office/drawing/2014/main" id="{D8024C02-B4CA-624C-040B-55E019758725}"/>
              </a:ext>
            </a:extLst>
          </p:cNvPr>
          <p:cNvSpPr/>
          <p:nvPr/>
        </p:nvSpPr>
        <p:spPr>
          <a:xfrm>
            <a:off x="884224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3"/>
          <p:cNvSpPr/>
          <p:nvPr/>
        </p:nvSpPr>
        <p:spPr>
          <a:xfrm>
            <a:off x="365760" y="914400"/>
            <a:ext cx="6400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24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AGENTES E RESPONSABILIDADE</a:t>
            </a:r>
            <a:r>
              <a:rPr lang="en-US" sz="2400" b="1" dirty="0">
                <a:solidFill>
                  <a:srgbClr val="0000D0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_</a:t>
            </a:r>
          </a:p>
        </p:txBody>
      </p:sp>
      <p:sp>
        <p:nvSpPr>
          <p:cNvPr id="17" name="Text 14"/>
          <p:cNvSpPr/>
          <p:nvPr/>
        </p:nvSpPr>
        <p:spPr>
          <a:xfrm>
            <a:off x="384048" y="1234440"/>
            <a:ext cx="7132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Deixe explícito o papel de cada agente no processo.</a:t>
            </a:r>
          </a:p>
        </p:txBody>
      </p: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61839064-E5B9-28F2-DDE5-B0B24877F820}"/>
              </a:ext>
            </a:extLst>
          </p:cNvPr>
          <p:cNvGrpSpPr/>
          <p:nvPr/>
        </p:nvGrpSpPr>
        <p:grpSpPr>
          <a:xfrm>
            <a:off x="658368" y="1865376"/>
            <a:ext cx="10332720" cy="3017520"/>
            <a:chOff x="658368" y="1719072"/>
            <a:chExt cx="10332720" cy="3017520"/>
          </a:xfrm>
        </p:grpSpPr>
        <p:sp>
          <p:nvSpPr>
            <p:cNvPr id="18" name="Shape 15"/>
            <p:cNvSpPr/>
            <p:nvPr/>
          </p:nvSpPr>
          <p:spPr>
            <a:xfrm>
              <a:off x="658368" y="1719072"/>
              <a:ext cx="2103120" cy="530352"/>
            </a:xfrm>
            <a:prstGeom prst="rect">
              <a:avLst/>
            </a:prstGeom>
            <a:solidFill>
              <a:srgbClr val="0000D0"/>
            </a:solidFill>
            <a:ln w="7620">
              <a:solidFill>
                <a:srgbClr val="0E547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16"/>
            <p:cNvSpPr/>
            <p:nvPr/>
          </p:nvSpPr>
          <p:spPr>
            <a:xfrm>
              <a:off x="768096" y="1920240"/>
              <a:ext cx="1883664" cy="12801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JetBrains Mono ExtraBold" panose="020B0604020202020204" charset="0"/>
                  <a:ea typeface="JetBrains Mono ExtraBold" panose="020B0604020202020204" charset="0"/>
                  <a:cs typeface="JetBrains Mono ExtraBold" panose="020B0604020202020204" charset="0"/>
                </a:rPr>
                <a:t>Agente</a:t>
              </a:r>
              <a:endParaRPr lang="en-US" sz="1200" dirty="0"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endParaRPr>
            </a:p>
          </p:txBody>
        </p:sp>
        <p:sp>
          <p:nvSpPr>
            <p:cNvPr id="20" name="Shape 17"/>
            <p:cNvSpPr/>
            <p:nvPr/>
          </p:nvSpPr>
          <p:spPr>
            <a:xfrm>
              <a:off x="2761488" y="1719072"/>
              <a:ext cx="2743200" cy="530352"/>
            </a:xfrm>
            <a:prstGeom prst="rect">
              <a:avLst/>
            </a:prstGeom>
            <a:solidFill>
              <a:srgbClr val="0000D0"/>
            </a:solidFill>
            <a:ln w="7620">
              <a:solidFill>
                <a:srgbClr val="0E547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8"/>
            <p:cNvSpPr/>
            <p:nvPr/>
          </p:nvSpPr>
          <p:spPr>
            <a:xfrm>
              <a:off x="2871216" y="1920240"/>
              <a:ext cx="2523744" cy="12801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algn="ctr"/>
              <a:r>
                <a:rPr lang="en-US" sz="1200" b="1" dirty="0" err="1">
                  <a:solidFill>
                    <a:srgbClr val="FFFFFF"/>
                  </a:solidFill>
                  <a:latin typeface="JetBrains Mono ExtraBold" panose="020B0604020202020204" charset="0"/>
                  <a:ea typeface="JetBrains Mono ExtraBold" panose="020B0604020202020204" charset="0"/>
                  <a:cs typeface="JetBrains Mono ExtraBold" panose="020B0604020202020204" charset="0"/>
                </a:rPr>
                <a:t>Função</a:t>
              </a:r>
              <a:endParaRPr lang="en-US" sz="1200" b="1" dirty="0">
                <a:solidFill>
                  <a:srgbClr val="FFFFFF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endParaRPr>
            </a:p>
          </p:txBody>
        </p:sp>
        <p:sp>
          <p:nvSpPr>
            <p:cNvPr id="22" name="Shape 19"/>
            <p:cNvSpPr/>
            <p:nvPr/>
          </p:nvSpPr>
          <p:spPr>
            <a:xfrm>
              <a:off x="5504688" y="1719072"/>
              <a:ext cx="2743200" cy="530352"/>
            </a:xfrm>
            <a:prstGeom prst="rect">
              <a:avLst/>
            </a:prstGeom>
            <a:solidFill>
              <a:srgbClr val="0000D0"/>
            </a:solidFill>
            <a:ln w="7620">
              <a:solidFill>
                <a:srgbClr val="0E547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20"/>
            <p:cNvSpPr/>
            <p:nvPr/>
          </p:nvSpPr>
          <p:spPr>
            <a:xfrm>
              <a:off x="5614416" y="1920240"/>
              <a:ext cx="2523744" cy="12801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JetBrains Mono ExtraBold" panose="020B0604020202020204" charset="0"/>
                  <a:ea typeface="JetBrains Mono ExtraBold" panose="020B0604020202020204" charset="0"/>
                  <a:cs typeface="JetBrains Mono ExtraBold" panose="020B0604020202020204" charset="0"/>
                </a:rPr>
                <a:t>Entrada</a:t>
              </a:r>
            </a:p>
          </p:txBody>
        </p:sp>
        <p:sp>
          <p:nvSpPr>
            <p:cNvPr id="24" name="Shape 21"/>
            <p:cNvSpPr/>
            <p:nvPr/>
          </p:nvSpPr>
          <p:spPr>
            <a:xfrm>
              <a:off x="8247888" y="1719072"/>
              <a:ext cx="2743200" cy="530352"/>
            </a:xfrm>
            <a:prstGeom prst="rect">
              <a:avLst/>
            </a:prstGeom>
            <a:solidFill>
              <a:srgbClr val="0000D0"/>
            </a:solidFill>
            <a:ln w="7620">
              <a:solidFill>
                <a:srgbClr val="0E547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 22"/>
            <p:cNvSpPr/>
            <p:nvPr/>
          </p:nvSpPr>
          <p:spPr>
            <a:xfrm>
              <a:off x="8357616" y="1920240"/>
              <a:ext cx="2523744" cy="12801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algn="ctr"/>
              <a:r>
                <a:rPr lang="en-US" sz="1200" b="1" dirty="0" err="1">
                  <a:solidFill>
                    <a:srgbClr val="FFFFFF"/>
                  </a:solidFill>
                  <a:latin typeface="JetBrains Mono ExtraBold" panose="020B0604020202020204" charset="0"/>
                  <a:ea typeface="JetBrains Mono ExtraBold" panose="020B0604020202020204" charset="0"/>
                  <a:cs typeface="JetBrains Mono ExtraBold" panose="020B0604020202020204" charset="0"/>
                </a:rPr>
                <a:t>Saída</a:t>
              </a:r>
              <a:endParaRPr lang="en-US" sz="1200" b="1" dirty="0">
                <a:solidFill>
                  <a:srgbClr val="FFFFFF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endParaRPr>
            </a:p>
          </p:txBody>
        </p:sp>
        <p:sp>
          <p:nvSpPr>
            <p:cNvPr id="26" name="Shape 23"/>
            <p:cNvSpPr/>
            <p:nvPr/>
          </p:nvSpPr>
          <p:spPr>
            <a:xfrm>
              <a:off x="658368" y="2249424"/>
              <a:ext cx="2103120" cy="621792"/>
            </a:xfrm>
            <a:prstGeom prst="rect">
              <a:avLst/>
            </a:prstGeom>
            <a:solidFill>
              <a:srgbClr val="F7F7F7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b="1" dirty="0">
                  <a:solidFill>
                    <a:srgbClr val="1A1A1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</a:t>
              </a:r>
              <a:r>
                <a:rPr lang="en-US" sz="1100" b="1" dirty="0" err="1">
                  <a:solidFill>
                    <a:srgbClr val="1A1A1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Agente</a:t>
              </a:r>
              <a:r>
                <a:rPr lang="en-US" sz="1100" b="1" dirty="0">
                  <a:solidFill>
                    <a:srgbClr val="1A1A1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1]</a:t>
              </a:r>
              <a:endParaRPr lang="en-US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endParaRPr lang="pt-BR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Text 24"/>
            <p:cNvSpPr/>
            <p:nvPr/>
          </p:nvSpPr>
          <p:spPr>
            <a:xfrm>
              <a:off x="768096" y="2414016"/>
              <a:ext cx="1883664" cy="14630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endParaRPr lang="en-US" sz="870" dirty="0"/>
            </a:p>
          </p:txBody>
        </p:sp>
        <p:sp>
          <p:nvSpPr>
            <p:cNvPr id="28" name="Shape 25"/>
            <p:cNvSpPr/>
            <p:nvPr/>
          </p:nvSpPr>
          <p:spPr>
            <a:xfrm>
              <a:off x="2761488" y="2249424"/>
              <a:ext cx="2743200" cy="621792"/>
            </a:xfrm>
            <a:prstGeom prst="rect">
              <a:avLst/>
            </a:prstGeom>
            <a:solidFill>
              <a:srgbClr val="F7F7F7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[O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que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faz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]</a:t>
              </a:r>
              <a:endParaRPr lang="en-US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endParaRPr lang="pt-BR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5504688" y="2249424"/>
              <a:ext cx="2743200" cy="621792"/>
            </a:xfrm>
            <a:prstGeom prst="rect">
              <a:avLst/>
            </a:prstGeom>
            <a:solidFill>
              <a:srgbClr val="F7F7F7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[O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que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recebe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]</a:t>
              </a:r>
              <a:endParaRPr lang="en-US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endParaRPr lang="pt-BR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8247888" y="2249424"/>
              <a:ext cx="2743200" cy="621792"/>
            </a:xfrm>
            <a:prstGeom prst="rect">
              <a:avLst/>
            </a:prstGeom>
            <a:solidFill>
              <a:srgbClr val="F7F7F7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[O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que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entrega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]</a:t>
              </a:r>
              <a:endParaRPr lang="en-US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endParaRPr lang="pt-BR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33" name="Text 30"/>
            <p:cNvSpPr/>
            <p:nvPr/>
          </p:nvSpPr>
          <p:spPr>
            <a:xfrm>
              <a:off x="8357616" y="2414016"/>
              <a:ext cx="2523744" cy="14630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>
                <a:buNone/>
              </a:pPr>
              <a:endParaRPr lang="en-US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658368" y="2871216"/>
              <a:ext cx="2103120" cy="62179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b="1" dirty="0">
                  <a:solidFill>
                    <a:srgbClr val="1A1A1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</a:t>
              </a:r>
              <a:r>
                <a:rPr lang="en-US" sz="1100" b="1" dirty="0" err="1">
                  <a:solidFill>
                    <a:srgbClr val="1A1A1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Agente</a:t>
              </a:r>
              <a:r>
                <a:rPr lang="en-US" sz="1100" b="1" dirty="0">
                  <a:solidFill>
                    <a:srgbClr val="1A1A1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2]</a:t>
              </a:r>
              <a:endParaRPr lang="en-US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endParaRPr lang="pt-BR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5" name="Text 32"/>
            <p:cNvSpPr/>
            <p:nvPr/>
          </p:nvSpPr>
          <p:spPr>
            <a:xfrm>
              <a:off x="768096" y="3035808"/>
              <a:ext cx="1883664" cy="14630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endParaRPr lang="en-US" sz="870" dirty="0"/>
            </a:p>
          </p:txBody>
        </p:sp>
        <p:sp>
          <p:nvSpPr>
            <p:cNvPr id="36" name="Shape 33"/>
            <p:cNvSpPr/>
            <p:nvPr/>
          </p:nvSpPr>
          <p:spPr>
            <a:xfrm>
              <a:off x="2761488" y="2871216"/>
              <a:ext cx="2743200" cy="62179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[O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que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faz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]</a:t>
              </a:r>
              <a:endParaRPr lang="en-US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endParaRPr lang="pt-BR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38" name="Shape 35"/>
            <p:cNvSpPr/>
            <p:nvPr/>
          </p:nvSpPr>
          <p:spPr>
            <a:xfrm>
              <a:off x="5504688" y="2871216"/>
              <a:ext cx="2743200" cy="62179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[O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que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recebe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]</a:t>
              </a:r>
              <a:endParaRPr lang="en-US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endParaRPr lang="pt-BR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40" name="Shape 37"/>
            <p:cNvSpPr/>
            <p:nvPr/>
          </p:nvSpPr>
          <p:spPr>
            <a:xfrm>
              <a:off x="8247888" y="2871216"/>
              <a:ext cx="2743200" cy="62179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[O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que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entrega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]</a:t>
              </a:r>
              <a:endParaRPr lang="en-US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endParaRPr lang="pt-BR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42" name="Shape 39"/>
            <p:cNvSpPr/>
            <p:nvPr/>
          </p:nvSpPr>
          <p:spPr>
            <a:xfrm>
              <a:off x="658368" y="3493008"/>
              <a:ext cx="2103120" cy="621792"/>
            </a:xfrm>
            <a:prstGeom prst="rect">
              <a:avLst/>
            </a:prstGeom>
            <a:solidFill>
              <a:srgbClr val="F7F7F7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b="1" dirty="0">
                  <a:solidFill>
                    <a:srgbClr val="1A1A1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</a:t>
              </a:r>
              <a:r>
                <a:rPr lang="en-US" sz="1100" b="1" dirty="0" err="1">
                  <a:solidFill>
                    <a:srgbClr val="1A1A1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Agente</a:t>
              </a:r>
              <a:r>
                <a:rPr lang="en-US" sz="1100" b="1" dirty="0">
                  <a:solidFill>
                    <a:srgbClr val="1A1A1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3]</a:t>
              </a:r>
              <a:endParaRPr lang="en-US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endParaRPr lang="pt-BR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768096" y="3657600"/>
              <a:ext cx="1883664" cy="14630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endParaRPr lang="en-US" sz="870" dirty="0"/>
            </a:p>
          </p:txBody>
        </p:sp>
        <p:sp>
          <p:nvSpPr>
            <p:cNvPr id="44" name="Shape 41"/>
            <p:cNvSpPr/>
            <p:nvPr/>
          </p:nvSpPr>
          <p:spPr>
            <a:xfrm>
              <a:off x="2761488" y="3493008"/>
              <a:ext cx="2743200" cy="621792"/>
            </a:xfrm>
            <a:prstGeom prst="rect">
              <a:avLst/>
            </a:prstGeom>
            <a:solidFill>
              <a:srgbClr val="F7F7F7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[O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que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faz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]</a:t>
              </a:r>
              <a:endParaRPr lang="en-US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endParaRPr lang="pt-BR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46" name="Shape 43"/>
            <p:cNvSpPr/>
            <p:nvPr/>
          </p:nvSpPr>
          <p:spPr>
            <a:xfrm>
              <a:off x="5504688" y="3493008"/>
              <a:ext cx="2743200" cy="621792"/>
            </a:xfrm>
            <a:prstGeom prst="rect">
              <a:avLst/>
            </a:prstGeom>
            <a:solidFill>
              <a:srgbClr val="F7F7F7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[O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que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recebe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]</a:t>
              </a:r>
              <a:endParaRPr lang="en-US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endParaRPr lang="pt-BR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48" name="Shape 45"/>
            <p:cNvSpPr/>
            <p:nvPr/>
          </p:nvSpPr>
          <p:spPr>
            <a:xfrm>
              <a:off x="8247888" y="3493008"/>
              <a:ext cx="2743200" cy="621792"/>
            </a:xfrm>
            <a:prstGeom prst="rect">
              <a:avLst/>
            </a:prstGeom>
            <a:solidFill>
              <a:srgbClr val="F7F7F7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[O que entrega]</a:t>
              </a:r>
              <a:endParaRPr lang="en-US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50" name="Shape 47"/>
            <p:cNvSpPr/>
            <p:nvPr/>
          </p:nvSpPr>
          <p:spPr>
            <a:xfrm>
              <a:off x="658368" y="4114800"/>
              <a:ext cx="2103120" cy="62179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b="1" dirty="0">
                  <a:solidFill>
                    <a:srgbClr val="1A1A1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</a:t>
              </a:r>
              <a:r>
                <a:rPr lang="en-US" sz="1100" b="1" dirty="0" err="1">
                  <a:solidFill>
                    <a:srgbClr val="1A1A1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Validador</a:t>
              </a:r>
              <a:r>
                <a:rPr lang="en-US" sz="1100" b="1" dirty="0">
                  <a:solidFill>
                    <a:srgbClr val="1A1A1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</a:t>
              </a:r>
              <a:r>
                <a:rPr lang="en-US" sz="1100" b="1" dirty="0" err="1">
                  <a:solidFill>
                    <a:srgbClr val="1A1A1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humano</a:t>
              </a:r>
              <a:r>
                <a:rPr lang="en-US" sz="1100" b="1" dirty="0">
                  <a:solidFill>
                    <a:srgbClr val="1A1A1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]</a:t>
              </a:r>
              <a:endParaRPr lang="en-US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endParaRPr lang="pt-BR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1" name="Text 48"/>
            <p:cNvSpPr/>
            <p:nvPr/>
          </p:nvSpPr>
          <p:spPr>
            <a:xfrm>
              <a:off x="768096" y="4279392"/>
              <a:ext cx="1883664" cy="14630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endParaRPr lang="en-US" sz="870" dirty="0"/>
            </a:p>
          </p:txBody>
        </p:sp>
        <p:sp>
          <p:nvSpPr>
            <p:cNvPr id="52" name="Shape 49"/>
            <p:cNvSpPr/>
            <p:nvPr/>
          </p:nvSpPr>
          <p:spPr>
            <a:xfrm>
              <a:off x="2761488" y="4114800"/>
              <a:ext cx="2743200" cy="62179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[O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que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faz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]</a:t>
              </a:r>
              <a:endParaRPr lang="en-US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endParaRPr lang="pt-BR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54" name="Shape 51"/>
            <p:cNvSpPr/>
            <p:nvPr/>
          </p:nvSpPr>
          <p:spPr>
            <a:xfrm>
              <a:off x="5504688" y="4114800"/>
              <a:ext cx="2743200" cy="62179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[O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que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recebe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]</a:t>
              </a:r>
              <a:endParaRPr lang="en-US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endParaRPr lang="pt-BR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55" name="Text 52"/>
            <p:cNvSpPr/>
            <p:nvPr/>
          </p:nvSpPr>
          <p:spPr>
            <a:xfrm>
              <a:off x="5614416" y="4279392"/>
              <a:ext cx="2523744" cy="14630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endParaRPr lang="en-US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56" name="Shape 53"/>
            <p:cNvSpPr/>
            <p:nvPr/>
          </p:nvSpPr>
          <p:spPr>
            <a:xfrm>
              <a:off x="8247888" y="4114800"/>
              <a:ext cx="2743200" cy="62179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[O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que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</a:t>
              </a:r>
              <a:r>
                <a:rPr lang="en-US" sz="1100" dirty="0" err="1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entrega</a:t>
              </a:r>
              <a:r>
                <a:rPr lang="en-US" sz="1100" dirty="0">
                  <a:solidFill>
                    <a:srgbClr val="6B728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]</a:t>
              </a:r>
              <a:endParaRPr lang="en-US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endParaRPr lang="pt-BR" sz="11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58" name="Shape 55"/>
          <p:cNvSpPr/>
          <p:nvPr/>
        </p:nvSpPr>
        <p:spPr>
          <a:xfrm>
            <a:off x="658368" y="5413248"/>
            <a:ext cx="10332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6"/>
          <p:cNvSpPr/>
          <p:nvPr/>
        </p:nvSpPr>
        <p:spPr>
          <a:xfrm>
            <a:off x="1188720" y="5559552"/>
            <a:ext cx="6858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Regra: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2788920" y="5559552"/>
            <a:ext cx="74980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[Qual regra/critério o agente precisa respeitar?]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320040" y="651967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INTERNO</a:t>
            </a:r>
            <a:endParaRPr lang="en-US" sz="650" dirty="0"/>
          </a:p>
        </p:txBody>
      </p:sp>
      <p:sp>
        <p:nvSpPr>
          <p:cNvPr id="89" name="Shape 0">
            <a:extLst>
              <a:ext uri="{FF2B5EF4-FFF2-40B4-BE49-F238E27FC236}">
                <a16:creationId xmlns:a16="http://schemas.microsoft.com/office/drawing/2014/main" id="{60F220D2-081D-F202-E692-49A5C9FFF65F}"/>
              </a:ext>
            </a:extLst>
          </p:cNvPr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0" name="Text 1">
            <a:extLst>
              <a:ext uri="{FF2B5EF4-FFF2-40B4-BE49-F238E27FC236}">
                <a16:creationId xmlns:a16="http://schemas.microsoft.com/office/drawing/2014/main" id="{8F396EBA-B1C7-6507-22F3-0A70B8CBF44E}"/>
              </a:ext>
            </a:extLst>
          </p:cNvPr>
          <p:cNvSpPr/>
          <p:nvPr/>
        </p:nvSpPr>
        <p:spPr>
          <a:xfrm>
            <a:off x="56694" y="228600"/>
            <a:ext cx="318942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CREWAI</a:t>
            </a:r>
            <a:endParaRPr lang="en-US" sz="1200" dirty="0"/>
          </a:p>
        </p:txBody>
      </p:sp>
      <p:pic>
        <p:nvPicPr>
          <p:cNvPr id="91" name="Image 0" descr="/mnt/data/ppt_unzip/ppt/media/image4.png">
            <a:extLst>
              <a:ext uri="{FF2B5EF4-FFF2-40B4-BE49-F238E27FC236}">
                <a16:creationId xmlns:a16="http://schemas.microsoft.com/office/drawing/2014/main" id="{A1D8347B-4BF5-A443-81D7-6F079C07C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05740"/>
            <a:ext cx="1147354" cy="283464"/>
          </a:xfrm>
          <a:prstGeom prst="rect">
            <a:avLst/>
          </a:prstGeom>
        </p:spPr>
      </p:pic>
      <p:sp>
        <p:nvSpPr>
          <p:cNvPr id="92" name="Shape 3">
            <a:extLst>
              <a:ext uri="{FF2B5EF4-FFF2-40B4-BE49-F238E27FC236}">
                <a16:creationId xmlns:a16="http://schemas.microsoft.com/office/drawing/2014/main" id="{2847FE84-F9E5-D593-B29A-837F897F2830}"/>
              </a:ext>
            </a:extLst>
          </p:cNvPr>
          <p:cNvSpPr/>
          <p:nvPr/>
        </p:nvSpPr>
        <p:spPr>
          <a:xfrm>
            <a:off x="331012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3" name="Shape 4">
            <a:extLst>
              <a:ext uri="{FF2B5EF4-FFF2-40B4-BE49-F238E27FC236}">
                <a16:creationId xmlns:a16="http://schemas.microsoft.com/office/drawing/2014/main" id="{1FE98447-0303-0D66-E9D7-74F8CD05D65D}"/>
              </a:ext>
            </a:extLst>
          </p:cNvPr>
          <p:cNvSpPr/>
          <p:nvPr/>
        </p:nvSpPr>
        <p:spPr>
          <a:xfrm>
            <a:off x="884224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3"/>
          <p:cNvSpPr/>
          <p:nvPr/>
        </p:nvSpPr>
        <p:spPr>
          <a:xfrm>
            <a:off x="365760" y="914400"/>
            <a:ext cx="6400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24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CASOS DE USO</a:t>
            </a:r>
            <a:r>
              <a:rPr lang="en-US" sz="2400" b="1" dirty="0">
                <a:solidFill>
                  <a:srgbClr val="0000D0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_</a:t>
            </a:r>
          </a:p>
        </p:txBody>
      </p:sp>
      <p:sp>
        <p:nvSpPr>
          <p:cNvPr id="17" name="Text 14"/>
          <p:cNvSpPr/>
          <p:nvPr/>
        </p:nvSpPr>
        <p:spPr>
          <a:xfrm>
            <a:off x="384048" y="1234440"/>
            <a:ext cx="7132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Apresente no mínimo 2 exemplos práticos usando dados </a:t>
            </a:r>
            <a:r>
              <a:rPr lang="en-US" sz="1000" dirty="0" err="1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fictícios</a:t>
            </a:r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</a:p>
        </p:txBody>
      </p:sp>
      <p:sp>
        <p:nvSpPr>
          <p:cNvPr id="18" name="Shape 15"/>
          <p:cNvSpPr/>
          <p:nvPr/>
        </p:nvSpPr>
        <p:spPr>
          <a:xfrm>
            <a:off x="685800" y="1691640"/>
            <a:ext cx="52578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685800" y="1691640"/>
            <a:ext cx="5257800" cy="45720"/>
          </a:xfrm>
          <a:prstGeom prst="rect">
            <a:avLst/>
          </a:prstGeom>
          <a:solidFill>
            <a:srgbClr val="000083"/>
          </a:solidFill>
          <a:ln w="12700">
            <a:solidFill>
              <a:srgbClr val="00008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850392" y="1856232"/>
            <a:ext cx="4928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Caso de </a:t>
            </a:r>
            <a:r>
              <a:rPr lang="en-US" sz="1100" b="1" dirty="0" err="1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uso</a:t>
            </a:r>
            <a:r>
              <a:rPr lang="en-US" sz="11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 1 — [</a:t>
            </a:r>
            <a:r>
              <a:rPr lang="en-US" sz="1100" b="1" dirty="0" err="1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nome</a:t>
            </a:r>
            <a:r>
              <a:rPr lang="en-US" sz="11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]</a:t>
            </a:r>
            <a:endParaRPr lang="en-US" sz="1100" dirty="0">
              <a:latin typeface="JetBrains Mono ExtraBold" panose="020B0604020202020204" charset="0"/>
              <a:ea typeface="JetBrains Mono ExtraBold" panose="020B0604020202020204" charset="0"/>
              <a:cs typeface="JetBrains Mono ExtraBold" panose="020B060402020202020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50392" y="2194560"/>
            <a:ext cx="4928616" cy="3044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Entrada fictícia: [exemplo]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 que o CrewAI faz: [passos]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Saída esperada: [resultado]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Quem usa: [perfil]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263640" y="1691640"/>
            <a:ext cx="52578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6263640" y="1691640"/>
            <a:ext cx="5257800" cy="45720"/>
          </a:xfrm>
          <a:prstGeom prst="rect">
            <a:avLst/>
          </a:prstGeom>
          <a:solidFill>
            <a:srgbClr val="000083"/>
          </a:solidFill>
          <a:ln w="12700">
            <a:solidFill>
              <a:srgbClr val="00008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6428232" y="1856232"/>
            <a:ext cx="4928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Caso de uso 2 — [</a:t>
            </a:r>
            <a:r>
              <a:rPr lang="en-US" sz="1100" b="1" dirty="0" err="1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nome</a:t>
            </a:r>
            <a:r>
              <a:rPr lang="en-US" sz="11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]</a:t>
            </a:r>
          </a:p>
        </p:txBody>
      </p:sp>
      <p:sp>
        <p:nvSpPr>
          <p:cNvPr id="25" name="Text 22"/>
          <p:cNvSpPr/>
          <p:nvPr/>
        </p:nvSpPr>
        <p:spPr>
          <a:xfrm>
            <a:off x="6428232" y="2194560"/>
            <a:ext cx="4928616" cy="3044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Entrada fictícia: [</a:t>
            </a:r>
            <a:r>
              <a:rPr lang="en-US" sz="1100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exemplo</a:t>
            </a:r>
            <a:r>
              <a:rPr lang="en-US" sz="1100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  <a:p>
            <a:r>
              <a:rPr lang="en-US" sz="1100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 que o CrewAI faz: [</a:t>
            </a:r>
            <a:r>
              <a:rPr lang="en-US" sz="1100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passos</a:t>
            </a:r>
            <a:r>
              <a:rPr lang="en-US" sz="1100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  <a:p>
            <a:r>
              <a:rPr lang="en-US" sz="1100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Saída esperada: [</a:t>
            </a:r>
            <a:r>
              <a:rPr lang="en-US" sz="1100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resultado</a:t>
            </a:r>
            <a:r>
              <a:rPr lang="en-US" sz="1100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  <a:p>
            <a:r>
              <a:rPr lang="en-US" sz="1100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Quem usa: [</a:t>
            </a:r>
            <a:r>
              <a:rPr lang="en-US" sz="1100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perfil</a:t>
            </a:r>
            <a:r>
              <a:rPr lang="en-US" sz="1100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</p:txBody>
      </p:sp>
      <p:sp>
        <p:nvSpPr>
          <p:cNvPr id="26" name="Text 23"/>
          <p:cNvSpPr/>
          <p:nvPr/>
        </p:nvSpPr>
        <p:spPr>
          <a:xfrm>
            <a:off x="914400" y="5742432"/>
            <a:ext cx="10332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40" i="1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Não precisa usar caso real: a banca quer entender se o fluxo é aplicável e bem estruturado.</a:t>
            </a:r>
            <a:endParaRPr lang="en-US" sz="94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20040" y="651967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INTERNO</a:t>
            </a:r>
            <a:endParaRPr lang="en-US" sz="650" dirty="0"/>
          </a:p>
        </p:txBody>
      </p:sp>
      <p:sp>
        <p:nvSpPr>
          <p:cNvPr id="52" name="Shape 0">
            <a:extLst>
              <a:ext uri="{FF2B5EF4-FFF2-40B4-BE49-F238E27FC236}">
                <a16:creationId xmlns:a16="http://schemas.microsoft.com/office/drawing/2014/main" id="{16F433DC-4D24-74E4-20A2-E027373942AB}"/>
              </a:ext>
            </a:extLst>
          </p:cNvPr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1">
            <a:extLst>
              <a:ext uri="{FF2B5EF4-FFF2-40B4-BE49-F238E27FC236}">
                <a16:creationId xmlns:a16="http://schemas.microsoft.com/office/drawing/2014/main" id="{E64834A3-54F9-76A6-8A32-58BEEEE13B65}"/>
              </a:ext>
            </a:extLst>
          </p:cNvPr>
          <p:cNvSpPr/>
          <p:nvPr/>
        </p:nvSpPr>
        <p:spPr>
          <a:xfrm>
            <a:off x="56694" y="228600"/>
            <a:ext cx="318942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CREWAI</a:t>
            </a:r>
            <a:endParaRPr lang="en-US" sz="1200" dirty="0"/>
          </a:p>
        </p:txBody>
      </p:sp>
      <p:pic>
        <p:nvPicPr>
          <p:cNvPr id="54" name="Image 0" descr="/mnt/data/ppt_unzip/ppt/media/image4.png">
            <a:extLst>
              <a:ext uri="{FF2B5EF4-FFF2-40B4-BE49-F238E27FC236}">
                <a16:creationId xmlns:a16="http://schemas.microsoft.com/office/drawing/2014/main" id="{CC3F8AA3-7895-301D-EB33-4E1106F4E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05740"/>
            <a:ext cx="1147354" cy="283464"/>
          </a:xfrm>
          <a:prstGeom prst="rect">
            <a:avLst/>
          </a:prstGeom>
        </p:spPr>
      </p:pic>
      <p:sp>
        <p:nvSpPr>
          <p:cNvPr id="55" name="Shape 3">
            <a:extLst>
              <a:ext uri="{FF2B5EF4-FFF2-40B4-BE49-F238E27FC236}">
                <a16:creationId xmlns:a16="http://schemas.microsoft.com/office/drawing/2014/main" id="{8478E0B5-1303-48BC-7116-57E9BD106842}"/>
              </a:ext>
            </a:extLst>
          </p:cNvPr>
          <p:cNvSpPr/>
          <p:nvPr/>
        </p:nvSpPr>
        <p:spPr>
          <a:xfrm>
            <a:off x="331012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82EE371F-3BBC-A36B-4743-053C3C88E337}"/>
              </a:ext>
            </a:extLst>
          </p:cNvPr>
          <p:cNvSpPr/>
          <p:nvPr/>
        </p:nvSpPr>
        <p:spPr>
          <a:xfrm>
            <a:off x="884224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3"/>
          <p:cNvSpPr/>
          <p:nvPr/>
        </p:nvSpPr>
        <p:spPr>
          <a:xfrm>
            <a:off x="365760" y="914400"/>
            <a:ext cx="6400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24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DEMONSTRAÇÃO OU PROTÓTIPO</a:t>
            </a:r>
            <a:r>
              <a:rPr lang="en-US" sz="2400" b="1" dirty="0">
                <a:solidFill>
                  <a:srgbClr val="0000D0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_</a:t>
            </a:r>
          </a:p>
        </p:txBody>
      </p:sp>
      <p:sp>
        <p:nvSpPr>
          <p:cNvPr id="17" name="Text 14"/>
          <p:cNvSpPr/>
          <p:nvPr/>
        </p:nvSpPr>
        <p:spPr>
          <a:xfrm>
            <a:off x="384048" y="1234440"/>
            <a:ext cx="7132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Mostre a solução funcionando ou simule o fluxo com prints.</a:t>
            </a:r>
          </a:p>
        </p:txBody>
      </p:sp>
      <p:sp>
        <p:nvSpPr>
          <p:cNvPr id="18" name="Shape 15"/>
          <p:cNvSpPr/>
          <p:nvPr/>
        </p:nvSpPr>
        <p:spPr>
          <a:xfrm>
            <a:off x="685800" y="1837944"/>
            <a:ext cx="6720840" cy="4069080"/>
          </a:xfrm>
          <a:prstGeom prst="roundRect">
            <a:avLst>
              <a:gd name="adj" fmla="val 1798"/>
            </a:avLst>
          </a:prstGeom>
          <a:solidFill>
            <a:srgbClr val="F7F7F7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1188720" y="3502152"/>
            <a:ext cx="57607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[Cole aqui um print da tela, terminal, fluxo, vídeo ou resultado gerado]</a:t>
            </a:r>
            <a:endParaRPr lang="en-US" sz="12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818120" y="1837944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7818120" y="1837944"/>
            <a:ext cx="3429000" cy="45720"/>
          </a:xfrm>
          <a:prstGeom prst="rect">
            <a:avLst/>
          </a:prstGeom>
          <a:solidFill>
            <a:srgbClr val="3CD2F0"/>
          </a:solidFill>
          <a:ln w="12700">
            <a:solidFill>
              <a:srgbClr val="3CD2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7982712" y="2002536"/>
            <a:ext cx="30998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Entrada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982712" y="2350008"/>
            <a:ext cx="309981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[Mostre o dado fictício usado]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818120" y="3026664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7818120" y="3026664"/>
            <a:ext cx="3429000" cy="45720"/>
          </a:xfrm>
          <a:prstGeom prst="rect">
            <a:avLst/>
          </a:prstGeom>
          <a:solidFill>
            <a:srgbClr val="7C00FF"/>
          </a:solidFill>
          <a:ln w="12700">
            <a:solidFill>
              <a:srgbClr val="7C0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7982712" y="3191256"/>
            <a:ext cx="30998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</a:t>
            </a:r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Execução</a:t>
            </a:r>
            <a:endParaRPr lang="en-US" sz="12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982712" y="3538728"/>
            <a:ext cx="309981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[Mostre os agentes/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tarefas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</p:txBody>
      </p:sp>
      <p:sp>
        <p:nvSpPr>
          <p:cNvPr id="28" name="Shape 25"/>
          <p:cNvSpPr/>
          <p:nvPr/>
        </p:nvSpPr>
        <p:spPr>
          <a:xfrm>
            <a:off x="7818120" y="4215384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7818120" y="4215384"/>
            <a:ext cx="3429000" cy="45720"/>
          </a:xfrm>
          <a:prstGeom prst="rect">
            <a:avLst/>
          </a:prstGeom>
          <a:solidFill>
            <a:srgbClr val="000083"/>
          </a:solidFill>
          <a:ln w="12700">
            <a:solidFill>
              <a:srgbClr val="00008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7982712" y="4379976"/>
            <a:ext cx="30998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</a:t>
            </a:r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Resultado</a:t>
            </a:r>
            <a:endParaRPr lang="en-US" sz="12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982712" y="4727448"/>
            <a:ext cx="309981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[Mostre a saída final]</a:t>
            </a:r>
          </a:p>
        </p:txBody>
      </p:sp>
      <p:sp>
        <p:nvSpPr>
          <p:cNvPr id="32" name="Text 29"/>
          <p:cNvSpPr/>
          <p:nvPr/>
        </p:nvSpPr>
        <p:spPr>
          <a:xfrm>
            <a:off x="320040" y="651967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INTERNO</a:t>
            </a:r>
            <a:endParaRPr lang="en-US" sz="650" dirty="0"/>
          </a:p>
        </p:txBody>
      </p:sp>
      <p:sp>
        <p:nvSpPr>
          <p:cNvPr id="57" name="Shape 0">
            <a:extLst>
              <a:ext uri="{FF2B5EF4-FFF2-40B4-BE49-F238E27FC236}">
                <a16:creationId xmlns:a16="http://schemas.microsoft.com/office/drawing/2014/main" id="{8CF84C41-03CC-A058-6C01-271018DDF850}"/>
              </a:ext>
            </a:extLst>
          </p:cNvPr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0E89931F-FD7F-18FF-FAF4-AE2FE3333C25}"/>
              </a:ext>
            </a:extLst>
          </p:cNvPr>
          <p:cNvSpPr/>
          <p:nvPr/>
        </p:nvSpPr>
        <p:spPr>
          <a:xfrm>
            <a:off x="56694" y="228600"/>
            <a:ext cx="318942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CREWAI</a:t>
            </a:r>
            <a:endParaRPr lang="en-US" sz="1200" dirty="0"/>
          </a:p>
        </p:txBody>
      </p:sp>
      <p:pic>
        <p:nvPicPr>
          <p:cNvPr id="59" name="Image 0" descr="/mnt/data/ppt_unzip/ppt/media/image4.png">
            <a:extLst>
              <a:ext uri="{FF2B5EF4-FFF2-40B4-BE49-F238E27FC236}">
                <a16:creationId xmlns:a16="http://schemas.microsoft.com/office/drawing/2014/main" id="{6DF0F29F-BDFE-1C09-948E-640A3FCE4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05740"/>
            <a:ext cx="1147354" cy="283464"/>
          </a:xfrm>
          <a:prstGeom prst="rect">
            <a:avLst/>
          </a:prstGeom>
        </p:spPr>
      </p:pic>
      <p:sp>
        <p:nvSpPr>
          <p:cNvPr id="60" name="Shape 3">
            <a:extLst>
              <a:ext uri="{FF2B5EF4-FFF2-40B4-BE49-F238E27FC236}">
                <a16:creationId xmlns:a16="http://schemas.microsoft.com/office/drawing/2014/main" id="{67DBADF4-DB30-C225-A4D6-7D6A9446D452}"/>
              </a:ext>
            </a:extLst>
          </p:cNvPr>
          <p:cNvSpPr/>
          <p:nvPr/>
        </p:nvSpPr>
        <p:spPr>
          <a:xfrm>
            <a:off x="331012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7C713CBD-8A2F-30C7-F494-B55C45161671}"/>
              </a:ext>
            </a:extLst>
          </p:cNvPr>
          <p:cNvSpPr/>
          <p:nvPr/>
        </p:nvSpPr>
        <p:spPr>
          <a:xfrm>
            <a:off x="884224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3"/>
          <p:cNvSpPr/>
          <p:nvPr/>
        </p:nvSpPr>
        <p:spPr>
          <a:xfrm>
            <a:off x="365760" y="914400"/>
            <a:ext cx="6400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24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GANHOS DE EFICIÊNCIA E MEDIÇÃO</a:t>
            </a:r>
            <a:r>
              <a:rPr lang="en-US" sz="2400" b="1" dirty="0">
                <a:solidFill>
                  <a:srgbClr val="0000D0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_</a:t>
            </a:r>
          </a:p>
        </p:txBody>
      </p:sp>
      <p:sp>
        <p:nvSpPr>
          <p:cNvPr id="17" name="Text 14"/>
          <p:cNvSpPr/>
          <p:nvPr/>
        </p:nvSpPr>
        <p:spPr>
          <a:xfrm>
            <a:off x="384048" y="1234440"/>
            <a:ext cx="7132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Explique o ganho esperado e como ele será </a:t>
            </a:r>
            <a:r>
              <a:rPr lang="en-US" sz="1000" dirty="0" err="1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comprovado</a:t>
            </a:r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</a:p>
        </p:txBody>
      </p:sp>
      <p:sp>
        <p:nvSpPr>
          <p:cNvPr id="18" name="Shape 15"/>
          <p:cNvSpPr/>
          <p:nvPr/>
        </p:nvSpPr>
        <p:spPr>
          <a:xfrm>
            <a:off x="685800" y="2121408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685800" y="2121408"/>
            <a:ext cx="3429000" cy="45720"/>
          </a:xfrm>
          <a:prstGeom prst="rect">
            <a:avLst/>
          </a:prstGeom>
          <a:solidFill>
            <a:srgbClr val="3CD2F0"/>
          </a:solidFill>
          <a:ln w="12700">
            <a:solidFill>
              <a:srgbClr val="3CD2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850392" y="2286000"/>
            <a:ext cx="30998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Ganho esperado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50392" y="2624328"/>
            <a:ext cx="3099816" cy="1399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[Redução de tempo]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[Menos retrabalho]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[Mais padronização]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[Mais rastreabilidade]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389120" y="2121408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4389120" y="2121408"/>
            <a:ext cx="3429000" cy="45720"/>
          </a:xfrm>
          <a:prstGeom prst="rect">
            <a:avLst/>
          </a:prstGeom>
          <a:solidFill>
            <a:srgbClr val="000083"/>
          </a:solidFill>
          <a:ln w="12700">
            <a:solidFill>
              <a:srgbClr val="00008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4553712" y="2286000"/>
            <a:ext cx="30998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Como </a:t>
            </a:r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medir</a:t>
            </a:r>
            <a:endParaRPr lang="en-US" sz="12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53712" y="2624328"/>
            <a:ext cx="3099816" cy="1399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Tempo antes x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depois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Quantidade de erros/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retrabalhos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Volume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processado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Taxa de aprovação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sem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ajuste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092440" y="2121408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8092440" y="2121408"/>
            <a:ext cx="3429000" cy="45720"/>
          </a:xfrm>
          <a:prstGeom prst="rect">
            <a:avLst/>
          </a:prstGeom>
          <a:solidFill>
            <a:srgbClr val="7C00FF"/>
          </a:solidFill>
          <a:ln w="12700">
            <a:solidFill>
              <a:srgbClr val="7C0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8257032" y="2286000"/>
            <a:ext cx="30998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Indicador</a:t>
            </a: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principal</a:t>
            </a:r>
          </a:p>
        </p:txBody>
      </p:sp>
      <p:sp>
        <p:nvSpPr>
          <p:cNvPr id="29" name="Text 26"/>
          <p:cNvSpPr/>
          <p:nvPr/>
        </p:nvSpPr>
        <p:spPr>
          <a:xfrm>
            <a:off x="8257032" y="2624328"/>
            <a:ext cx="3099816" cy="1399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[Escolha 1 métrica principal]</a:t>
            </a: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[Defina fonte de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medição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[Defina período de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acompanhamento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</p:txBody>
      </p:sp>
      <p:sp>
        <p:nvSpPr>
          <p:cNvPr id="30" name="Shape 27"/>
          <p:cNvSpPr/>
          <p:nvPr/>
        </p:nvSpPr>
        <p:spPr>
          <a:xfrm>
            <a:off x="685800" y="4590288"/>
            <a:ext cx="10835640" cy="658368"/>
          </a:xfrm>
          <a:prstGeom prst="roundRect">
            <a:avLst>
              <a:gd name="adj" fmla="val 11111"/>
            </a:avLst>
          </a:prstGeom>
          <a:solidFill>
            <a:srgbClr val="F7F7F7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1261872" y="4846320"/>
            <a:ext cx="11887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Frase de valor: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487168" y="4846320"/>
            <a:ext cx="81381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[Com essa solução, esperamos reduzir X e melhorar Y para a área Z.]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20040" y="651967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INTERNO</a:t>
            </a:r>
            <a:endParaRPr lang="en-US" sz="650" dirty="0"/>
          </a:p>
        </p:txBody>
      </p:sp>
      <p:sp>
        <p:nvSpPr>
          <p:cNvPr id="47" name="Shape 0">
            <a:extLst>
              <a:ext uri="{FF2B5EF4-FFF2-40B4-BE49-F238E27FC236}">
                <a16:creationId xmlns:a16="http://schemas.microsoft.com/office/drawing/2014/main" id="{0104F6D3-C1FC-DB31-0E6D-56BDF61D2F5C}"/>
              </a:ext>
            </a:extLst>
          </p:cNvPr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1">
            <a:extLst>
              <a:ext uri="{FF2B5EF4-FFF2-40B4-BE49-F238E27FC236}">
                <a16:creationId xmlns:a16="http://schemas.microsoft.com/office/drawing/2014/main" id="{E3F1040C-67C3-CFF6-F13C-4CE8CA8347E1}"/>
              </a:ext>
            </a:extLst>
          </p:cNvPr>
          <p:cNvSpPr/>
          <p:nvPr/>
        </p:nvSpPr>
        <p:spPr>
          <a:xfrm>
            <a:off x="56694" y="228600"/>
            <a:ext cx="318942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CREWAI</a:t>
            </a:r>
            <a:endParaRPr lang="en-US" sz="1200" dirty="0"/>
          </a:p>
        </p:txBody>
      </p:sp>
      <p:pic>
        <p:nvPicPr>
          <p:cNvPr id="49" name="Image 0" descr="/mnt/data/ppt_unzip/ppt/media/image4.png">
            <a:extLst>
              <a:ext uri="{FF2B5EF4-FFF2-40B4-BE49-F238E27FC236}">
                <a16:creationId xmlns:a16="http://schemas.microsoft.com/office/drawing/2014/main" id="{019E7862-0537-0794-9CA2-1B580A8C5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05740"/>
            <a:ext cx="1147354" cy="283464"/>
          </a:xfrm>
          <a:prstGeom prst="rect">
            <a:avLst/>
          </a:prstGeom>
        </p:spPr>
      </p:pic>
      <p:sp>
        <p:nvSpPr>
          <p:cNvPr id="50" name="Shape 3">
            <a:extLst>
              <a:ext uri="{FF2B5EF4-FFF2-40B4-BE49-F238E27FC236}">
                <a16:creationId xmlns:a16="http://schemas.microsoft.com/office/drawing/2014/main" id="{52C78639-832A-A02C-0032-4CC15762434F}"/>
              </a:ext>
            </a:extLst>
          </p:cNvPr>
          <p:cNvSpPr/>
          <p:nvPr/>
        </p:nvSpPr>
        <p:spPr>
          <a:xfrm>
            <a:off x="331012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2F525572-A179-E8F7-2960-C14EAED96C0B}"/>
              </a:ext>
            </a:extLst>
          </p:cNvPr>
          <p:cNvSpPr/>
          <p:nvPr/>
        </p:nvSpPr>
        <p:spPr>
          <a:xfrm>
            <a:off x="884224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3"/>
          <p:cNvSpPr/>
          <p:nvPr/>
        </p:nvSpPr>
        <p:spPr>
          <a:xfrm>
            <a:off x="365760" y="914400"/>
            <a:ext cx="6400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2400" b="1" dirty="0">
                <a:solidFill>
                  <a:srgbClr val="1A1A1A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CONTRIBUIÇÃO DAS ÁREAS</a:t>
            </a:r>
            <a:r>
              <a:rPr lang="en-US" sz="2400" b="1" dirty="0">
                <a:solidFill>
                  <a:srgbClr val="0000D0"/>
                </a:solidFill>
                <a:latin typeface="JetBrains Mono ExtraBold" panose="020B0604020202020204" charset="0"/>
                <a:ea typeface="JetBrains Mono ExtraBold" panose="020B0604020202020204" charset="0"/>
                <a:cs typeface="JetBrains Mono ExtraBold" panose="020B0604020202020204" charset="0"/>
              </a:rPr>
              <a:t>_</a:t>
            </a:r>
          </a:p>
        </p:txBody>
      </p:sp>
      <p:sp>
        <p:nvSpPr>
          <p:cNvPr id="17" name="Text 14"/>
          <p:cNvSpPr/>
          <p:nvPr/>
        </p:nvSpPr>
        <p:spPr>
          <a:xfrm>
            <a:off x="384048" y="1234440"/>
            <a:ext cx="7132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Mostre como cada área contribui para a solução fazer sentido na </a:t>
            </a:r>
            <a:r>
              <a:rPr lang="en-US" sz="1000" dirty="0" err="1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prática</a:t>
            </a:r>
            <a:r>
              <a:rPr lang="en-US" sz="10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</a:p>
        </p:txBody>
      </p:sp>
      <p:sp>
        <p:nvSpPr>
          <p:cNvPr id="18" name="Shape 15"/>
          <p:cNvSpPr/>
          <p:nvPr/>
        </p:nvSpPr>
        <p:spPr>
          <a:xfrm>
            <a:off x="530352" y="22402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30352" y="2240280"/>
            <a:ext cx="2560320" cy="45720"/>
          </a:xfrm>
          <a:prstGeom prst="rect">
            <a:avLst/>
          </a:prstGeom>
          <a:solidFill>
            <a:srgbClr val="7C00FF"/>
          </a:solidFill>
          <a:ln w="12700">
            <a:solidFill>
              <a:srgbClr val="7C0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94944" y="2404872"/>
            <a:ext cx="22311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Área dona da dor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94944" y="2743200"/>
            <a:ext cx="2231136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Define o problema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Valida regra de negócio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Confirma valor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364992" y="22402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3364992" y="2240280"/>
            <a:ext cx="256032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3529584" y="2404872"/>
            <a:ext cx="22311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Dados/</a:t>
            </a:r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processos</a:t>
            </a:r>
            <a:endParaRPr lang="en-US" sz="12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529584" y="2743200"/>
            <a:ext cx="2231136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Define entradas</a:t>
            </a: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Cria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massa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fictícia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Garante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contexto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199632" y="22402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6199632" y="2240280"/>
            <a:ext cx="2560320" cy="45720"/>
          </a:xfrm>
          <a:prstGeom prst="rect">
            <a:avLst/>
          </a:prstGeom>
          <a:solidFill>
            <a:srgbClr val="000083"/>
          </a:solidFill>
          <a:ln w="12700">
            <a:solidFill>
              <a:srgbClr val="00008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6364224" y="2404872"/>
            <a:ext cx="22311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Técnico/Dev</a:t>
            </a:r>
          </a:p>
        </p:txBody>
      </p:sp>
      <p:sp>
        <p:nvSpPr>
          <p:cNvPr id="29" name="Text 26"/>
          <p:cNvSpPr/>
          <p:nvPr/>
        </p:nvSpPr>
        <p:spPr>
          <a:xfrm>
            <a:off x="6364224" y="2743200"/>
            <a:ext cx="2231136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Monta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agentes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Integra ferramentas</a:t>
            </a:r>
          </a:p>
          <a:p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Organiza</a:t>
            </a:r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execução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9034272" y="22402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9034272" y="2240280"/>
            <a:ext cx="2560320" cy="45720"/>
          </a:xfrm>
          <a:prstGeom prst="rect">
            <a:avLst/>
          </a:prstGeom>
          <a:solidFill>
            <a:srgbClr val="FF00B1"/>
          </a:solidFill>
          <a:ln w="12700">
            <a:solidFill>
              <a:srgbClr val="FF00B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9198864" y="2404872"/>
            <a:ext cx="22311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Segurança/</a:t>
            </a:r>
            <a:r>
              <a:rPr lang="en-US" sz="1200" b="1" dirty="0" err="1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Governança</a:t>
            </a:r>
            <a:endParaRPr lang="en-US" sz="1200" b="1" dirty="0">
              <a:solidFill>
                <a:srgbClr val="1A1A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9198864" y="2743200"/>
            <a:ext cx="2231136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Valida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premissas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Evita dados reais</a:t>
            </a:r>
          </a:p>
          <a:p>
            <a:r>
              <a:rPr lang="en-US" sz="1100" dirty="0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Define </a:t>
            </a:r>
            <a:r>
              <a:rPr lang="en-US" sz="1100" dirty="0" err="1">
                <a:solidFill>
                  <a:srgbClr val="1A1A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limites</a:t>
            </a:r>
            <a:endParaRPr lang="en-US" sz="1100" dirty="0">
              <a:solidFill>
                <a:srgbClr val="1A1A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30352" y="476402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7F7F7"/>
          </a:solidFill>
          <a:ln w="889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1225296" y="5074920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Mensagem final: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063240" y="5074920"/>
            <a:ext cx="7452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[Por que essa solução deveria ser considerada pela Teletex?]</a:t>
            </a:r>
            <a:endParaRPr lang="en-US" sz="11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20040" y="651967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INTERNO</a:t>
            </a:r>
            <a:endParaRPr lang="en-US" sz="650" dirty="0"/>
          </a:p>
        </p:txBody>
      </p:sp>
      <p:sp>
        <p:nvSpPr>
          <p:cNvPr id="51" name="Shape 0">
            <a:extLst>
              <a:ext uri="{FF2B5EF4-FFF2-40B4-BE49-F238E27FC236}">
                <a16:creationId xmlns:a16="http://schemas.microsoft.com/office/drawing/2014/main" id="{DE7FA257-8BF0-8FE9-BC29-EE99180C4E31}"/>
              </a:ext>
            </a:extLst>
          </p:cNvPr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1">
            <a:extLst>
              <a:ext uri="{FF2B5EF4-FFF2-40B4-BE49-F238E27FC236}">
                <a16:creationId xmlns:a16="http://schemas.microsoft.com/office/drawing/2014/main" id="{B9B6D548-EC6A-4CB5-58F2-B3D8854FF45C}"/>
              </a:ext>
            </a:extLst>
          </p:cNvPr>
          <p:cNvSpPr/>
          <p:nvPr/>
        </p:nvSpPr>
        <p:spPr>
          <a:xfrm>
            <a:off x="56694" y="228600"/>
            <a:ext cx="318942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CREWAI</a:t>
            </a:r>
            <a:endParaRPr lang="en-US" sz="1200" dirty="0"/>
          </a:p>
        </p:txBody>
      </p:sp>
      <p:pic>
        <p:nvPicPr>
          <p:cNvPr id="53" name="Image 0" descr="/mnt/data/ppt_unzip/ppt/media/image4.png">
            <a:extLst>
              <a:ext uri="{FF2B5EF4-FFF2-40B4-BE49-F238E27FC236}">
                <a16:creationId xmlns:a16="http://schemas.microsoft.com/office/drawing/2014/main" id="{CF3BCC48-8B91-B71F-BAFE-F75CE7E3D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05740"/>
            <a:ext cx="1147354" cy="283464"/>
          </a:xfrm>
          <a:prstGeom prst="rect">
            <a:avLst/>
          </a:prstGeom>
        </p:spPr>
      </p:pic>
      <p:sp>
        <p:nvSpPr>
          <p:cNvPr id="54" name="Shape 3">
            <a:extLst>
              <a:ext uri="{FF2B5EF4-FFF2-40B4-BE49-F238E27FC236}">
                <a16:creationId xmlns:a16="http://schemas.microsoft.com/office/drawing/2014/main" id="{14A22891-0528-10CB-ADCA-8FAA6E748682}"/>
              </a:ext>
            </a:extLst>
          </p:cNvPr>
          <p:cNvSpPr/>
          <p:nvPr/>
        </p:nvSpPr>
        <p:spPr>
          <a:xfrm>
            <a:off x="331012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4">
            <a:extLst>
              <a:ext uri="{FF2B5EF4-FFF2-40B4-BE49-F238E27FC236}">
                <a16:creationId xmlns:a16="http://schemas.microsoft.com/office/drawing/2014/main" id="{E5B0902C-0C21-1F05-A775-C8D59657C067}"/>
              </a:ext>
            </a:extLst>
          </p:cNvPr>
          <p:cNvSpPr/>
          <p:nvPr/>
        </p:nvSpPr>
        <p:spPr>
          <a:xfrm>
            <a:off x="8842248" y="45720"/>
            <a:ext cx="0" cy="603504"/>
          </a:xfrm>
          <a:prstGeom prst="line">
            <a:avLst/>
          </a:prstGeom>
          <a:noFill/>
          <a:ln w="762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22DD5559-867E-3A2A-6706-64036778FBF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1031"/>
          <a:stretch/>
        </p:blipFill>
        <p:spPr>
          <a:xfrm>
            <a:off x="7561936" y="589176"/>
            <a:ext cx="4630064" cy="5679649"/>
          </a:xfrm>
          <a:prstGeom prst="rect">
            <a:avLst/>
          </a:prstGeom>
        </p:spPr>
      </p:pic>
      <p:pic>
        <p:nvPicPr>
          <p:cNvPr id="8" name="Imagem 7" descr="Desenho com traços pretos em fundo branco">
            <a:extLst>
              <a:ext uri="{FF2B5EF4-FFF2-40B4-BE49-F238E27FC236}">
                <a16:creationId xmlns:a16="http://schemas.microsoft.com/office/drawing/2014/main" id="{B54282D0-80E7-F2D4-B9EB-41C80F892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578" y="2790754"/>
            <a:ext cx="5170601" cy="1276492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BB3F7FDC-D783-46A1-2142-4C584BAA911A}"/>
              </a:ext>
            </a:extLst>
          </p:cNvPr>
          <p:cNvSpPr txBox="1"/>
          <p:nvPr/>
        </p:nvSpPr>
        <p:spPr>
          <a:xfrm>
            <a:off x="4017583" y="5899492"/>
            <a:ext cx="3846591" cy="3693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JUNTOS SOMOS MAIS FORTES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D5AEFE1D-7285-0A10-F5B5-0C3681A59AC1}"/>
              </a:ext>
            </a:extLst>
          </p:cNvPr>
          <p:cNvGrpSpPr/>
          <p:nvPr/>
        </p:nvGrpSpPr>
        <p:grpSpPr>
          <a:xfrm>
            <a:off x="3698979" y="4614037"/>
            <a:ext cx="4876613" cy="369332"/>
            <a:chOff x="3925816" y="4614037"/>
            <a:chExt cx="4876613" cy="369332"/>
          </a:xfrm>
        </p:grpSpPr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5709C674-4A9E-F699-0BC2-6B88FD259F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33681" y="4684217"/>
              <a:ext cx="230657" cy="230657"/>
            </a:xfrm>
            <a:prstGeom prst="rect">
              <a:avLst/>
            </a:prstGeom>
          </p:spPr>
        </p:pic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3334382D-D0EA-7F01-331F-66BE95A4E0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71159" y="4684217"/>
              <a:ext cx="227699" cy="221195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106D046B-A503-DC17-9DE4-FABA36D312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25816" y="4684217"/>
              <a:ext cx="239762" cy="239762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4D39A502-6007-1922-660F-C691F136F0DA}"/>
                </a:ext>
              </a:extLst>
            </p:cNvPr>
            <p:cNvSpPr txBox="1"/>
            <p:nvPr/>
          </p:nvSpPr>
          <p:spPr>
            <a:xfrm>
              <a:off x="4165578" y="4614037"/>
              <a:ext cx="166581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teletex.com.br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A032C488-249F-0749-8F1C-9555E42F9C47}"/>
                </a:ext>
              </a:extLst>
            </p:cNvPr>
            <p:cNvSpPr txBox="1"/>
            <p:nvPr/>
          </p:nvSpPr>
          <p:spPr>
            <a:xfrm>
              <a:off x="7788773" y="4614037"/>
              <a:ext cx="101365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dirty="0" err="1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teletexit</a:t>
              </a:r>
              <a:endParaRPr lang="pt-BR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7D786E96-FCF7-5942-A0AA-0507204ADED2}"/>
                </a:ext>
              </a:extLst>
            </p:cNvPr>
            <p:cNvSpPr txBox="1"/>
            <p:nvPr/>
          </p:nvSpPr>
          <p:spPr>
            <a:xfrm>
              <a:off x="6244648" y="4614037"/>
              <a:ext cx="101365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dirty="0" err="1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teletex</a:t>
              </a:r>
              <a:endParaRPr lang="pt-BR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07414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3f58da5-e4b4-4a2c-b842-9b35ab4ddc31" xsi:nil="true"/>
    <lcf76f155ced4ddcb4097134ff3c332f xmlns="9d44bec4-3fd9-4683-8b5d-2e6ea044737c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3433E7BA43E84595B6D4E1C2A15984" ma:contentTypeVersion="18" ma:contentTypeDescription="Crie um novo documento." ma:contentTypeScope="" ma:versionID="413ac48b4ec9f0d64276d8c803bd8063">
  <xsd:schema xmlns:xsd="http://www.w3.org/2001/XMLSchema" xmlns:xs="http://www.w3.org/2001/XMLSchema" xmlns:p="http://schemas.microsoft.com/office/2006/metadata/properties" xmlns:ns1="http://schemas.microsoft.com/sharepoint/v3" xmlns:ns2="c3f58da5-e4b4-4a2c-b842-9b35ab4ddc31" xmlns:ns3="9d44bec4-3fd9-4683-8b5d-2e6ea044737c" targetNamespace="http://schemas.microsoft.com/office/2006/metadata/properties" ma:root="true" ma:fieldsID="bdde9659c5f4c4e9dd4ba505aa113bb2" ns1:_="" ns2:_="" ns3:_="">
    <xsd:import namespace="http://schemas.microsoft.com/sharepoint/v3"/>
    <xsd:import namespace="c3f58da5-e4b4-4a2c-b842-9b35ab4ddc31"/>
    <xsd:import namespace="9d44bec4-3fd9-4683-8b5d-2e6ea044737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f58da5-e4b4-4a2c-b842-9b35ab4ddc3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990855d-5a19-4773-8106-d977ad5342c4}" ma:internalName="TaxCatchAll" ma:showField="CatchAllData" ma:web="c3f58da5-e4b4-4a2c-b842-9b35ab4ddc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4bec4-3fd9-4683-8b5d-2e6ea04473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d1637648-fe80-4209-8688-dac6d7a1a0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086263-DA25-4667-8568-12A475C5AB48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5ccde739-d814-4517-8639-1e373fd178c5"/>
    <ds:schemaRef ds:uri="35f87451-138c-4970-b5f1-1735b504210e"/>
    <ds:schemaRef ds:uri="0d3af381-129d-4a8a-ab02-399a49d5a4ad"/>
    <ds:schemaRef ds:uri="c3f58da5-e4b4-4a2c-b842-9b35ab4ddc31"/>
    <ds:schemaRef ds:uri="9d44bec4-3fd9-4683-8b5d-2e6ea044737c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40F6303F-FF43-44A4-AFB7-AF294885E1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7545D9-7842-4379-A8D4-1809670CFE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3f58da5-e4b4-4a2c-b842-9b35ab4ddc31"/>
    <ds:schemaRef ds:uri="9d44bec4-3fd9-4683-8b5d-2e6ea04473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1424</TotalTime>
  <Words>1168</Words>
  <Application>Microsoft Office PowerPoint</Application>
  <PresentationFormat>Widescreen</PresentationFormat>
  <Paragraphs>213</Paragraphs>
  <Slides>12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Lato</vt:lpstr>
      <vt:lpstr>Arial</vt:lpstr>
      <vt:lpstr>Lato Heavy</vt:lpstr>
      <vt:lpstr>Lato Light</vt:lpstr>
      <vt:lpstr>Calibri</vt:lpstr>
      <vt:lpstr>Aptos</vt:lpstr>
      <vt:lpstr>JetBrains Mono ExtraBold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 Valenza de Souza Pereira</dc:creator>
  <cp:lastModifiedBy>Thatiane Yumi Naito Borges</cp:lastModifiedBy>
  <cp:revision>8</cp:revision>
  <dcterms:created xsi:type="dcterms:W3CDTF">2024-05-07T19:42:31Z</dcterms:created>
  <dcterms:modified xsi:type="dcterms:W3CDTF">2026-07-03T14:11:56Z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0x010100483433E7BA43E84595B6D4E1C2A15984</vt:lpwstr>
  </property>
</Properties>
</file>